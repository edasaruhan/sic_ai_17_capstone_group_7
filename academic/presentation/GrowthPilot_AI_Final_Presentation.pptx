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05d617075f4df9" /><Relationship Type="http://schemas.openxmlformats.org/officeDocument/2006/relationships/extended-properties" Target="/docProps/app.xml" Id="Ra82f7eb901bd42ba" /><Relationship Type="http://schemas.openxmlformats.org/officeDocument/2006/relationships/officeDocument" Target="/ppt/presentation.xml" Id="R78c0a892399a41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dc03f14f684a30"/>
  </p:sldMasterIdLst>
  <p:notesMasterIdLst>
    <p:notesMasterId xmlns:r="http://schemas.openxmlformats.org/officeDocument/2006/relationships" r:id="R2668a4277f23451c"/>
  </p:notesMasterIdLst>
  <p:sldIdLst>
    <p:sldId xmlns:r="http://schemas.openxmlformats.org/officeDocument/2006/relationships" id="256" r:id="R8cd7d6a270594713"/>
    <p:sldId xmlns:r="http://schemas.openxmlformats.org/officeDocument/2006/relationships" id="257" r:id="R822e1cfd1ead456b"/>
    <p:sldId xmlns:r="http://schemas.openxmlformats.org/officeDocument/2006/relationships" id="258" r:id="R9f2727f95c5d4289"/>
    <p:sldId xmlns:r="http://schemas.openxmlformats.org/officeDocument/2006/relationships" id="259" r:id="R327af36b8cf3465e"/>
    <p:sldId xmlns:r="http://schemas.openxmlformats.org/officeDocument/2006/relationships" id="260" r:id="Rd87395ff6ef241c0"/>
    <p:sldId xmlns:r="http://schemas.openxmlformats.org/officeDocument/2006/relationships" id="261" r:id="Rad4eca055b6441aa"/>
    <p:sldId xmlns:r="http://schemas.openxmlformats.org/officeDocument/2006/relationships" id="262" r:id="R443be32cbc4741fb"/>
    <p:sldId xmlns:r="http://schemas.openxmlformats.org/officeDocument/2006/relationships" id="263" r:id="Rdfc6646aecf049c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6dc7e8926f488f" /><Relationship Type="http://schemas.openxmlformats.org/officeDocument/2006/relationships/slideMaster" Target="/ppt/slideMasters/slideMaster1.xml" Id="R93dc03f14f684a30" /><Relationship Type="http://schemas.openxmlformats.org/officeDocument/2006/relationships/notesMaster" Target="/ppt/notesMasters/notesMaster1.xml" Id="R2668a4277f23451c" /><Relationship Type="http://schemas.openxmlformats.org/officeDocument/2006/relationships/presProps" Target="/ppt/presProps.xml" Id="Rbffc3a0b71a54c11" /><Relationship Type="http://schemas.openxmlformats.org/officeDocument/2006/relationships/tableStyles" Target="/ppt/tableStyles.xml" Id="Rd5d68271542a40ee" /><Relationship Type="http://schemas.openxmlformats.org/officeDocument/2006/relationships/slide" Target="/ppt/slides/slide1.xml" Id="R8cd7d6a270594713" /><Relationship Type="http://schemas.openxmlformats.org/officeDocument/2006/relationships/slide" Target="/ppt/slides/slide2.xml" Id="R822e1cfd1ead456b" /><Relationship Type="http://schemas.openxmlformats.org/officeDocument/2006/relationships/slide" Target="/ppt/slides/slide3.xml" Id="R9f2727f95c5d4289" /><Relationship Type="http://schemas.openxmlformats.org/officeDocument/2006/relationships/slide" Target="/ppt/slides/slide4.xml" Id="R327af36b8cf3465e" /><Relationship Type="http://schemas.openxmlformats.org/officeDocument/2006/relationships/slide" Target="/ppt/slides/slide5.xml" Id="Rd87395ff6ef241c0" /><Relationship Type="http://schemas.openxmlformats.org/officeDocument/2006/relationships/slide" Target="/ppt/slides/slide6.xml" Id="Rad4eca055b6441aa" /><Relationship Type="http://schemas.openxmlformats.org/officeDocument/2006/relationships/slide" Target="/ppt/slides/slide7.xml" Id="R443be32cbc4741fb" /><Relationship Type="http://schemas.openxmlformats.org/officeDocument/2006/relationships/slide" Target="/ppt/slides/slide8.xml" Id="Rdfc6646aecf049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c2bc5df46c48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a538d3176d40b4" /><Relationship Type="http://schemas.openxmlformats.org/officeDocument/2006/relationships/notesMaster" Target="/ppt/notesMasters/notesMaster1.xml" Id="Ra655702bda034f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83080c18b347ff" /><Relationship Type="http://schemas.openxmlformats.org/officeDocument/2006/relationships/notesMaster" Target="/ppt/notesMasters/notesMaster1.xml" Id="R67de55fb802348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ff9ee00e344fa5" /><Relationship Type="http://schemas.openxmlformats.org/officeDocument/2006/relationships/notesMaster" Target="/ppt/notesMasters/notesMaster1.xml" Id="R87aeaf3e924943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374a0d3ecb4792" /><Relationship Type="http://schemas.openxmlformats.org/officeDocument/2006/relationships/notesMaster" Target="/ppt/notesMasters/notesMaster1.xml" Id="R225215c6d8c444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7608aeb68f4a9c" /><Relationship Type="http://schemas.openxmlformats.org/officeDocument/2006/relationships/notesMaster" Target="/ppt/notesMasters/notesMaster1.xml" Id="Rb5928c7401f045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13ebc3c33f4523" /><Relationship Type="http://schemas.openxmlformats.org/officeDocument/2006/relationships/notesMaster" Target="/ppt/notesMasters/notesMaster1.xml" Id="R3cb8fe54fe3841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a1ea8d6a4e492b" /><Relationship Type="http://schemas.openxmlformats.org/officeDocument/2006/relationships/notesMaster" Target="/ppt/notesMasters/notesMaster1.xml" Id="R57e6e3adc7354e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e07f228ec04ab9" /><Relationship Type="http://schemas.openxmlformats.org/officeDocument/2006/relationships/notesMaster" Target="/ppt/notesMasters/notesMaster1.xml" Id="R408614ea82b24b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eca4c8e20149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928546ef3648b6" /><Relationship Type="http://schemas.openxmlformats.org/officeDocument/2006/relationships/slideLayout" Target="/ppt/slideLayouts/slideLayout1.xml" Id="R6b005a2be1634c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005a2be1634c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1905acbd34e1f" /><Relationship Type="http://schemas.openxmlformats.org/officeDocument/2006/relationships/notesSlide" Target="/ppt/notesSlides/notesSlide1.xml" Id="Rb3f207b7a01844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1e738c7e841a0" /><Relationship Type="http://schemas.openxmlformats.org/officeDocument/2006/relationships/notesSlide" Target="/ppt/notesSlides/notesSlide2.xml" Id="R63cccf32c88348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99d0faad74421" /><Relationship Type="http://schemas.openxmlformats.org/officeDocument/2006/relationships/notesSlide" Target="/ppt/notesSlides/notesSlide3.xml" Id="R353fd2afb67b46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7b0b033b545b9" /><Relationship Type="http://schemas.openxmlformats.org/officeDocument/2006/relationships/notesSlide" Target="/ppt/notesSlides/notesSlide4.xml" Id="R697d98a42df44e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f67713e764679" /><Relationship Type="http://schemas.openxmlformats.org/officeDocument/2006/relationships/chart" Target="/ppt/slides/charts/chart1.xml" Id="R33b730a185e44ab9" /><Relationship Type="http://schemas.openxmlformats.org/officeDocument/2006/relationships/notesSlide" Target="/ppt/notesSlides/notesSlide5.xml" Id="R2dfd64ded00249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2119bb8f04288" /><Relationship Type="http://schemas.openxmlformats.org/officeDocument/2006/relationships/image" Target="/ppt/media/image.png" Id="R3ad089b9fb6d4031" /><Relationship Type="http://schemas.openxmlformats.org/officeDocument/2006/relationships/notesSlide" Target="/ppt/notesSlides/notesSlide6.xml" Id="Rcb088c4a61b146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fc7f2f05a4571" /><Relationship Type="http://schemas.openxmlformats.org/officeDocument/2006/relationships/image" Target="/ppt/media/image2.png" Id="R2c624e389bf7451f" /><Relationship Type="http://schemas.openxmlformats.org/officeDocument/2006/relationships/notesSlide" Target="/ppt/notesSlides/notesSlide7.xml" Id="Rf2ef71243cf44e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059fbc31d4e15" /><Relationship Type="http://schemas.openxmlformats.org/officeDocument/2006/relationships/notesSlide" Target="/ppt/notesSlides/notesSlide8.xml" Id="Ra16ad64fac0044e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PR-AUC</c:v>
          </c:tx>
          <c:spPr>
            <a:solidFill xmlns:a="http://schemas.openxmlformats.org/drawingml/2006/main">
              <a:srgbClr val="2E6B35"/>
            </a:solidFill>
          </c:spPr>
          <c:dLbls/>
          <c:cat>
            <c:strLit>
              <c:ptCount val="5"/>
              <c:pt idx="0">
                <c:v>Logistic</c:v>
              </c:pt>
              <c:pt idx="1">
                <c:v>LightGBM</c:v>
              </c:pt>
              <c:pt idx="2">
                <c:v>Random forest</c:v>
              </c:pt>
              <c:pt idx="3">
                <c:v>Recency</c:v>
              </c:pt>
              <c:pt idx="4">
                <c:v>Dummy</c:v>
              </c:pt>
            </c:strLit>
          </c:cat>
          <c:val>
            <c:numLit>
              <c:formatCode>General</c:formatCode>
              <c:ptCount val="5"/>
              <c:pt idx="0">
                <c:v>0.805322</c:v>
              </c:pt>
              <c:pt idx="1">
                <c:v>0.805223</c:v>
              </c:pt>
              <c:pt idx="2">
                <c:v>0.803517</c:v>
              </c:pt>
              <c:pt idx="3">
                <c:v>0.715529</c:v>
              </c:pt>
              <c:pt idx="4">
                <c:v>0.577187</c:v>
              </c:pt>
            </c:numLit>
          </c:val>
        </c:ser>
        <c:dLbls>
          <c:showVal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DE4D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3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DBBCB8-F33C-45E8-8620-FA9FA026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54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1B7D2-EE4F-415F-82DF-F55A2120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0"/>
            <a:ext cx="20955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F2A61782-B1CF-401A-9AFA-82B93AC7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742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GrowthPilot AI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4998E4D0-3124-46E6-A01F-2D665E90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704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1D7B3"/>
                </a:solidFill>
              </a:defRPr>
            </a:pPr>
            <a:r>
              <a:rPr sz="1800" b="0">
                <a:solidFill>
                  <a:srgbClr val="C1D7B3"/>
                </a:solidFill>
              </a:rPr>
              <a:t>Customer operations, explainable inactivity risk, and governed marketing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43DCEA-EEEA-470B-9029-3F756242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CC8B"/>
                </a:solidFill>
              </a:defRPr>
            </a:pPr>
            <a:r>
              <a:rPr sz="1125" b="1">
                <a:solidFill>
                  <a:srgbClr val="A8CC8B"/>
                </a:solidFill>
              </a:rPr>
              <a:t>Samsung Innovation Campus · Group 7 · Şahin Başcı</a:t>
            </a:r>
          </a:p>
        </p:txBody>
      </p:sp>
      <p:sp>
        <p:nvSpPr>
          <p:cNvPr id="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41E21F4-A0FE-4249-8557-0E150BC1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8CC8B"/>
                </a:solidFill>
              </a:defRPr>
            </a:pPr>
            <a:r>
              <a:rPr sz="750" b="0">
                <a:solidFill>
                  <a:srgbClr val="A8CC8B"/>
                </a:solidFill>
              </a:rPr>
              <a:t>Final local evidence package · 9 September 2026</a:t>
            </a:r>
          </a:p>
        </p:txBody>
      </p:sp>
      <p:sp>
        <p:nvSpPr>
          <p:cNvPr id="7" name="ai-footer">
            <a:extLst xmlns:a="http://schemas.openxmlformats.org/drawingml/2006/main">
              <a:ext uri="{FF2B5EF4-FFF2-40B4-BE49-F238E27FC236}">
                <a16:creationId xmlns:a16="http://schemas.microsoft.com/office/drawing/2014/main" id="{448A597F-30B3-4640-815D-A992DBDE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67475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8CC8B"/>
                </a:solidFill>
              </a:defRPr>
            </a:pPr>
            <a:r>
              <a:rPr sz="675" b="0">
                <a:solidFill>
                  <a:srgbClr val="A8CC8B"/>
                </a:solidFill>
              </a:rPr>
              <a:t>AI-assisted drafting disclosed · Human review required</a:t>
            </a:r>
          </a:p>
        </p:txBody>
      </p:sp>
    </p:spTree>
    <p:extLst>
      <p:ext uri="{BB962C8B-B14F-4D97-AF65-F5344CB8AC3E}">
        <p14:creationId xmlns:p14="http://schemas.microsoft.com/office/powerpoint/2010/main" val="10801015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2">
            <a:extLst xmlns:a="http://schemas.openxmlformats.org/drawingml/2006/main">
              <a:ext uri="{FF2B5EF4-FFF2-40B4-BE49-F238E27FC236}">
                <a16:creationId xmlns:a16="http://schemas.microsoft.com/office/drawing/2014/main" id="{F8F26F99-9175-4FEF-A14A-C17FB239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6B35"/>
                </a:solidFill>
              </a:defRPr>
            </a:pPr>
            <a:r>
              <a:rPr sz="975" b="1">
                <a:solidFill>
                  <a:srgbClr val="2E6B35"/>
                </a:solidFill>
              </a:rPr>
              <a:t>THE OPERATING PROBLEM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118A054A-C2F0-4DC3-8805-14D9696C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51B"/>
                </a:solidFill>
              </a:defRPr>
            </a:pPr>
            <a:r>
              <a:rPr sz="2700" b="1">
                <a:solidFill>
                  <a:srgbClr val="17251B"/>
                </a:solidFill>
              </a:rPr>
              <a:t>Marketing decisions fail when the evidence trail is fragmented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9589D-245A-4D65-BB3C-B17E5099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A60"/>
                </a:solidFill>
              </a:defRPr>
            </a:pPr>
            <a:r>
              <a:rPr sz="900" b="1">
                <a:solidFill>
                  <a:srgbClr val="5C6A60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DF06C-AED6-4A05-A303-0EF25A0F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6B93B"/>
                </a:solidFill>
              </a:defRPr>
            </a:pPr>
            <a:r>
              <a:rPr sz="1275" b="1">
                <a:solidFill>
                  <a:srgbClr val="86B93B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2C440-6BE9-49CC-9FFB-E10E2F11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954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1B"/>
                </a:solidFill>
              </a:defRPr>
            </a:pPr>
            <a:r>
              <a:rPr sz="1725" b="1">
                <a:solidFill>
                  <a:srgbClr val="17251B"/>
                </a:solidFill>
              </a:rPr>
              <a:t>Customer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EFFED-7FBA-44A3-8F57-51B26108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574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A60"/>
                </a:solidFill>
              </a:defRPr>
            </a:pPr>
            <a:r>
              <a:rPr sz="1275" b="0">
                <a:solidFill>
                  <a:srgbClr val="5C6A60"/>
                </a:solidFill>
              </a:rPr>
              <a:t>CRM notes and consent are detached from orders and value.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F0224F-FA73-4B76-94AB-392A0E07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6B93B"/>
                </a:solidFill>
              </a:defRPr>
            </a:pPr>
            <a:r>
              <a:rPr sz="1275" b="1">
                <a:solidFill>
                  <a:srgbClr val="86B93B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F410C-8569-41C9-9366-B3E7BC6A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956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1B"/>
                </a:solidFill>
              </a:defRPr>
            </a:pPr>
            <a:r>
              <a:rPr sz="1725" b="1">
                <a:solidFill>
                  <a:srgbClr val="17251B"/>
                </a:solidFill>
              </a:rPr>
              <a:t>Commercial truth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657EC-E1EE-4D75-BFDF-AFD65B3D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575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A60"/>
                </a:solidFill>
              </a:defRPr>
            </a:pPr>
            <a:r>
              <a:rPr sz="1275" b="0">
                <a:solidFill>
                  <a:srgbClr val="5C6A60"/>
                </a:solidFill>
              </a:rPr>
              <a:t>Inventory, returns and revenue definitions drift across 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FA646A-301C-4482-9CDE-19BE010B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6B93B"/>
                </a:solidFill>
              </a:defRPr>
            </a:pPr>
            <a:r>
              <a:rPr sz="1275" b="1">
                <a:solidFill>
                  <a:srgbClr val="86B93B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E13D6-010F-4DB3-976F-D9F01322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95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1B"/>
                </a:solidFill>
              </a:defRPr>
            </a:pPr>
            <a:r>
              <a:rPr sz="1725" b="1">
                <a:solidFill>
                  <a:srgbClr val="17251B"/>
                </a:solidFill>
              </a:rPr>
              <a:t>Paid media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DF7B8-C152-4AE3-A948-50D271D6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57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A60"/>
                </a:solidFill>
              </a:defRPr>
            </a:pPr>
            <a:r>
              <a:rPr sz="1275" b="0">
                <a:solidFill>
                  <a:srgbClr val="5C6A60"/>
                </a:solidFill>
              </a:rPr>
              <a:t>Provider metrics arrive without consistent provenance or identity.</a:t>
            </a:r>
          </a:p>
        </p:txBody>
      </p:sp>
      <p:sp>
        <p:nvSpPr>
          <p:cNvPr id="13" name="problem-statement">
            <a:extLst xmlns:a="http://schemas.openxmlformats.org/drawingml/2006/main">
              <a:ext uri="{FF2B5EF4-FFF2-40B4-BE49-F238E27FC236}">
                <a16:creationId xmlns:a16="http://schemas.microsoft.com/office/drawing/2014/main" id="{B3F6B17D-6ADC-4F4B-B2D0-C3879457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667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0F3ED"/>
          </a:solidFill>
          <a:ln xmlns:a="http://schemas.openxmlformats.org/drawingml/2006/main" w="9525">
            <a:solidFill>
              <a:srgbClr val="F0F3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50558F-4669-4FC3-9AE7-50898007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09800"/>
            <a:ext cx="381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3723"/>
                </a:solidFill>
              </a:defRPr>
            </a:pPr>
            <a:r>
              <a:rPr sz="2250" b="1">
                <a:solidFill>
                  <a:srgbClr val="103723"/>
                </a:solidFill>
              </a:rPr>
              <a:t>The bottleneck is not a lack of dashboards.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D59C32-F6D9-4A7F-90A0-83DBEF39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43250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E6B35"/>
                </a:solidFill>
              </a:defRPr>
            </a:pPr>
            <a:r>
              <a:rPr sz="1725" b="0">
                <a:solidFill>
                  <a:srgbClr val="2E6B35"/>
                </a:solidFill>
              </a:rPr>
              <a:t>It is the absence of a traceable path from data to a reviewed decision.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84C78C-F73F-45C2-84A3-D376121D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719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A60"/>
                </a:solidFill>
              </a:defRPr>
            </a:pPr>
            <a:r>
              <a:rPr sz="1200" b="0">
                <a:solidFill>
                  <a:srgbClr val="5C6A60"/>
                </a:solidFill>
              </a:rPr>
              <a:t>GrowthPilot makes provenance, tenant scope, consent and approval part of that path.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0609962C-DD8C-44F9-AB34-EDBA93CF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A60"/>
                </a:solidFill>
              </a:defRPr>
            </a:pPr>
            <a:r>
              <a:rPr sz="750" b="0">
                <a:solidFill>
                  <a:srgbClr val="5C6A60"/>
                </a:solidFill>
              </a:rPr>
              <a:t>Project problem framing; no commercial outcome is claimed.</a:t>
            </a:r>
          </a:p>
        </p:txBody>
      </p:sp>
      <p:sp>
        <p:nvSpPr>
          <p:cNvPr id="18" name="ai-footer">
            <a:extLst xmlns:a="http://schemas.openxmlformats.org/drawingml/2006/main">
              <a:ext uri="{FF2B5EF4-FFF2-40B4-BE49-F238E27FC236}">
                <a16:creationId xmlns:a16="http://schemas.microsoft.com/office/drawing/2014/main" id="{7CF4D978-5DEA-4F91-B8A0-9ED723D9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67475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C6A60"/>
                </a:solidFill>
              </a:defRPr>
            </a:pPr>
            <a:r>
              <a:rPr sz="675" b="0">
                <a:solidFill>
                  <a:srgbClr val="5C6A60"/>
                </a:solidFill>
              </a:rPr>
              <a:t>AI-assisted drafting disclosed · Human review required</a:t>
            </a:r>
          </a:p>
        </p:txBody>
      </p:sp>
    </p:spTree>
    <p:extLst>
      <p:ext uri="{BB962C8B-B14F-4D97-AF65-F5344CB8AC3E}">
        <p14:creationId xmlns:p14="http://schemas.microsoft.com/office/powerpoint/2010/main" val="11115243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3">
            <a:extLst xmlns:a="http://schemas.openxmlformats.org/drawingml/2006/main">
              <a:ext uri="{FF2B5EF4-FFF2-40B4-BE49-F238E27FC236}">
                <a16:creationId xmlns:a16="http://schemas.microsoft.com/office/drawing/2014/main" id="{47FFCE24-3E5E-4C69-AEE8-B10BA244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6B35"/>
                </a:solidFill>
              </a:defRPr>
            </a:pPr>
            <a:r>
              <a:rPr sz="975" b="1">
                <a:solidFill>
                  <a:srgbClr val="2E6B35"/>
                </a:solidFill>
              </a:rPr>
              <a:t>THE PRODUCT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D3607A7C-506C-440F-BAA1-D768E4AC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51B"/>
                </a:solidFill>
              </a:defRPr>
            </a:pPr>
            <a:r>
              <a:rPr sz="2700" b="1">
                <a:solidFill>
                  <a:srgbClr val="17251B"/>
                </a:solidFill>
              </a:rPr>
              <a:t>One governed workflow connects source data to human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1B6D5-0179-4AE3-8C52-508D9D6D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A60"/>
                </a:solidFill>
              </a:defRPr>
            </a:pPr>
            <a:r>
              <a:rPr sz="900" b="1">
                <a:solidFill>
                  <a:srgbClr val="5C6A60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94397-FE40-4575-9636-760EB012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289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6B35"/>
                </a:solidFill>
              </a:defRPr>
            </a:pPr>
            <a:r>
              <a:rPr sz="2100" b="1">
                <a:solidFill>
                  <a:srgbClr val="2E6B35"/>
                </a:solidFill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C9285-3B22-4BC6-8907-84B9629E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6B35"/>
                </a:solidFill>
              </a:defRPr>
            </a:pPr>
            <a:r>
              <a:rPr sz="2100" b="1">
                <a:solidFill>
                  <a:srgbClr val="2E6B35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A82E8-1B84-49E0-A127-C55FC258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289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6B35"/>
                </a:solidFill>
              </a:defRPr>
            </a:pPr>
            <a:r>
              <a:rPr sz="2100" b="1">
                <a:solidFill>
                  <a:srgbClr val="2E6B35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06E25-8A03-4ED2-A47E-51485B17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289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6B35"/>
                </a:solidFill>
              </a:defRPr>
            </a:pPr>
            <a:r>
              <a:rPr sz="2100" b="1">
                <a:solidFill>
                  <a:srgbClr val="2E6B35"/>
                </a:solidFill>
              </a:rPr>
              <a:t>→</a:t>
            </a:r>
          </a:p>
        </p:txBody>
      </p:sp>
      <p:sp>
        <p:nvSpPr>
          <p:cNvPr id="8" name="workflow-0">
            <a:extLst xmlns:a="http://schemas.openxmlformats.org/drawingml/2006/main">
              <a:ext uri="{FF2B5EF4-FFF2-40B4-BE49-F238E27FC236}">
                <a16:creationId xmlns:a16="http://schemas.microsoft.com/office/drawing/2014/main" id="{F2D3F18D-7E35-4D29-86EC-319CDB36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18669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2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264A8-3EE7-4B1B-B970-123F5D2C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B35"/>
                </a:solidFill>
              </a:defRPr>
            </a:pPr>
            <a:r>
              <a:rPr sz="1050" b="1">
                <a:solidFill>
                  <a:srgbClr val="2E6B35"/>
                </a:solidFill>
              </a:rPr>
              <a:t>1 · INGEST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56C609-953D-4B2E-8A00-7BE92330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485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51B"/>
                </a:solidFill>
              </a:defRPr>
            </a:pPr>
            <a:r>
              <a:rPr sz="1350" b="1">
                <a:solidFill>
                  <a:srgbClr val="17251B"/>
                </a:solidFill>
              </a:rPr>
              <a:t>Validated imports</a:t>
            </a:r>
          </a:p>
          <a:p xmlns:a="http://schemas.openxmlformats.org/drawingml/2006/main">
            <a:pPr algn="l">
              <a:defRPr sz="1350" b="1">
                <a:solidFill>
                  <a:srgbClr val="17251B"/>
                </a:solidFill>
              </a:defRPr>
            </a:pPr>
            <a:r>
              <a:rPr sz="1350" b="1">
                <a:solidFill>
                  <a:srgbClr val="17251B"/>
                </a:solidFill>
              </a:rPr>
              <a:t>and provider adapters</a:t>
            </a:r>
          </a:p>
        </p:txBody>
      </p:sp>
      <p:sp>
        <p:nvSpPr>
          <p:cNvPr id="11" name="workflow-1">
            <a:extLst xmlns:a="http://schemas.openxmlformats.org/drawingml/2006/main">
              <a:ext uri="{FF2B5EF4-FFF2-40B4-BE49-F238E27FC236}">
                <a16:creationId xmlns:a16="http://schemas.microsoft.com/office/drawing/2014/main" id="{86F2E61C-CA88-48E8-979B-7AE2626A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52625"/>
            <a:ext cx="18669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2C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C19B1F-DE39-48E1-ACE5-78A83542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09800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B35"/>
                </a:solidFill>
              </a:defRPr>
            </a:pPr>
            <a:r>
              <a:rPr sz="1050" b="1">
                <a:solidFill>
                  <a:srgbClr val="2E6B35"/>
                </a:solidFill>
              </a:rPr>
              <a:t>2 · STORE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1D79AD-32C7-4298-A2BA-4F9C4C40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47950"/>
            <a:ext cx="1485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51B"/>
                </a:solidFill>
              </a:defRPr>
            </a:pPr>
            <a:r>
              <a:rPr sz="1350" b="1">
                <a:solidFill>
                  <a:srgbClr val="17251B"/>
                </a:solidFill>
              </a:rPr>
              <a:t>Canonical records</a:t>
            </a:r>
          </a:p>
          <a:p xmlns:a="http://schemas.openxmlformats.org/drawingml/2006/main">
            <a:pPr algn="l">
              <a:defRPr sz="1350" b="1">
                <a:solidFill>
                  <a:srgbClr val="17251B"/>
                </a:solidFill>
              </a:defRPr>
            </a:pPr>
            <a:r>
              <a:rPr sz="1350" b="1">
                <a:solidFill>
                  <a:srgbClr val="17251B"/>
                </a:solidFill>
              </a:rPr>
              <a:t>with PostgreSQL RLS</a:t>
            </a:r>
          </a:p>
        </p:txBody>
      </p:sp>
      <p:sp>
        <p:nvSpPr>
          <p:cNvPr id="14" name="workflow-2">
            <a:extLst xmlns:a="http://schemas.openxmlformats.org/drawingml/2006/main">
              <a:ext uri="{FF2B5EF4-FFF2-40B4-BE49-F238E27FC236}">
                <a16:creationId xmlns:a16="http://schemas.microsoft.com/office/drawing/2014/main" id="{1A7CE3FD-8575-4B43-AB8B-4D341BDF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52625"/>
            <a:ext cx="18669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2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1E22F4-126E-4553-9CD3-60D7670D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09800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B35"/>
                </a:solidFill>
              </a:defRPr>
            </a:pPr>
            <a:r>
              <a:rPr sz="1050" b="1">
                <a:solidFill>
                  <a:srgbClr val="2E6B35"/>
                </a:solidFill>
              </a:rPr>
              <a:t>3 · ANALYZE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65941-46DC-4667-BD0E-CE7997CD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47950"/>
            <a:ext cx="1485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51B"/>
                </a:solidFill>
              </a:defRPr>
            </a:pPr>
            <a:r>
              <a:rPr sz="1350" b="1">
                <a:solidFill>
                  <a:srgbClr val="17251B"/>
                </a:solidFill>
              </a:rPr>
              <a:t>Versioned KPIs, RFM</a:t>
            </a:r>
          </a:p>
          <a:p xmlns:a="http://schemas.openxmlformats.org/drawingml/2006/main">
            <a:pPr algn="l">
              <a:defRPr sz="1350" b="1">
                <a:solidFill>
                  <a:srgbClr val="17251B"/>
                </a:solidFill>
              </a:defRPr>
            </a:pPr>
            <a:r>
              <a:rPr sz="1350" b="1">
                <a:solidFill>
                  <a:srgbClr val="17251B"/>
                </a:solidFill>
              </a:rPr>
              <a:t>and inactivity scores</a:t>
            </a:r>
          </a:p>
        </p:txBody>
      </p:sp>
      <p:sp>
        <p:nvSpPr>
          <p:cNvPr id="17" name="workflow-3">
            <a:extLst xmlns:a="http://schemas.openxmlformats.org/drawingml/2006/main">
              <a:ext uri="{FF2B5EF4-FFF2-40B4-BE49-F238E27FC236}">
                <a16:creationId xmlns:a16="http://schemas.microsoft.com/office/drawing/2014/main" id="{D59F1E7B-640E-4CC9-85A4-56BC251E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52625"/>
            <a:ext cx="18669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2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7210AB-475D-4280-A1F7-AC4A7CA9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09800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B35"/>
                </a:solidFill>
              </a:defRPr>
            </a:pPr>
            <a:r>
              <a:rPr sz="1050" b="1">
                <a:solidFill>
                  <a:srgbClr val="2E6B35"/>
                </a:solidFill>
              </a:rPr>
              <a:t>4 ·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1738D7-87B7-4551-A463-4C739A38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47950"/>
            <a:ext cx="1485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51B"/>
                </a:solidFill>
              </a:defRPr>
            </a:pPr>
            <a:r>
              <a:rPr sz="1350" b="1">
                <a:solidFill>
                  <a:srgbClr val="17251B"/>
                </a:solidFill>
              </a:rPr>
              <a:t>Explanation, consent</a:t>
            </a:r>
          </a:p>
          <a:p xmlns:a="http://schemas.openxmlformats.org/drawingml/2006/main">
            <a:pPr algn="l">
              <a:defRPr sz="1350" b="1">
                <a:solidFill>
                  <a:srgbClr val="17251B"/>
                </a:solidFill>
              </a:defRPr>
            </a:pPr>
            <a:r>
              <a:rPr sz="1350" b="1">
                <a:solidFill>
                  <a:srgbClr val="17251B"/>
                </a:solidFill>
              </a:rPr>
              <a:t>and audience snapshot</a:t>
            </a:r>
          </a:p>
        </p:txBody>
      </p:sp>
      <p:sp>
        <p:nvSpPr>
          <p:cNvPr id="20" name="workflow-4">
            <a:extLst xmlns:a="http://schemas.openxmlformats.org/drawingml/2006/main">
              <a:ext uri="{FF2B5EF4-FFF2-40B4-BE49-F238E27FC236}">
                <a16:creationId xmlns:a16="http://schemas.microsoft.com/office/drawing/2014/main" id="{55EBCAFE-BB3F-4D2E-A95C-D2F97AB0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52625"/>
            <a:ext cx="18669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8F1E5"/>
          </a:solidFill>
          <a:ln xmlns:a="http://schemas.openxmlformats.org/drawingml/2006/main" w="9525">
            <a:solidFill>
              <a:srgbClr val="2E6B3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902787-DDB3-4FAC-8AEB-2846DF46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09800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B35"/>
                </a:solidFill>
              </a:defRPr>
            </a:pPr>
            <a:r>
              <a:rPr sz="1050" b="1">
                <a:solidFill>
                  <a:srgbClr val="2E6B35"/>
                </a:solidFill>
              </a:rPr>
              <a:t>5 · 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CECF6D-56CE-422E-8630-6E5EB371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47950"/>
            <a:ext cx="1485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51B"/>
                </a:solidFill>
              </a:defRPr>
            </a:pPr>
            <a:r>
              <a:rPr sz="1350" b="1">
                <a:solidFill>
                  <a:srgbClr val="17251B"/>
                </a:solidFill>
              </a:rPr>
              <a:t>Approval required</a:t>
            </a:r>
          </a:p>
          <a:p xmlns:a="http://schemas.openxmlformats.org/drawingml/2006/main">
            <a:pPr algn="l">
              <a:defRPr sz="1350" b="1">
                <a:solidFill>
                  <a:srgbClr val="17251B"/>
                </a:solidFill>
              </a:defRPr>
            </a:pPr>
            <a:r>
              <a:rPr sz="1350" b="1">
                <a:solidFill>
                  <a:srgbClr val="17251B"/>
                </a:solidFill>
              </a:rPr>
              <a:t>kill switch remains 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F377DC-59D8-439B-A83B-CDE5E2C8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723"/>
          </a:solidFill>
          <a:ln xmlns:a="http://schemas.openxmlformats.org/drawingml/2006/main" w="0">
            <a:solidFill>
              <a:srgbClr val="10372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04A4D5-F787-46C7-BDBE-C2D45988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05325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Controls that never drop away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0F9291-7485-4010-A8E0-591045D3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971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CC8B"/>
                </a:solidFill>
              </a:defRPr>
            </a:pPr>
            <a:r>
              <a:rPr sz="1500" b="0">
                <a:solidFill>
                  <a:srgbClr val="A8CC8B"/>
                </a:solidFill>
              </a:rPr>
              <a:t>Tenant scope  ·  server-side RBAC  ·  checksums  ·  consent  ·  approval  ·  audit</a:t>
            </a:r>
          </a:p>
        </p:txBody>
      </p:sp>
      <p:sp>
        <p:nvSpPr>
          <p:cNvPr id="2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2D6EF891-EC03-4A4E-87E9-1C2A325B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A60"/>
                </a:solidFill>
              </a:defRPr>
            </a:pPr>
            <a:r>
              <a:rPr sz="750" b="0">
                <a:solidFill>
                  <a:srgbClr val="5C6A60"/>
                </a:solidFill>
              </a:rPr>
              <a:t>Implemented locally; live provider execution remains disabled.</a:t>
            </a:r>
          </a:p>
        </p:txBody>
      </p:sp>
      <p:sp>
        <p:nvSpPr>
          <p:cNvPr id="27" name="ai-footer">
            <a:extLst xmlns:a="http://schemas.openxmlformats.org/drawingml/2006/main">
              <a:ext uri="{FF2B5EF4-FFF2-40B4-BE49-F238E27FC236}">
                <a16:creationId xmlns:a16="http://schemas.microsoft.com/office/drawing/2014/main" id="{9EC2FA16-B604-4AC7-A3DE-FE3BCB55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67475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C6A60"/>
                </a:solidFill>
              </a:defRPr>
            </a:pPr>
            <a:r>
              <a:rPr sz="675" b="0">
                <a:solidFill>
                  <a:srgbClr val="5C6A60"/>
                </a:solidFill>
              </a:rPr>
              <a:t>AI-assisted drafting disclosed · Human review required</a:t>
            </a:r>
          </a:p>
        </p:txBody>
      </p:sp>
    </p:spTree>
    <p:extLst>
      <p:ext uri="{BB962C8B-B14F-4D97-AF65-F5344CB8AC3E}">
        <p14:creationId xmlns:p14="http://schemas.microsoft.com/office/powerpoint/2010/main" val="5269983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4">
            <a:extLst xmlns:a="http://schemas.openxmlformats.org/drawingml/2006/main">
              <a:ext uri="{FF2B5EF4-FFF2-40B4-BE49-F238E27FC236}">
                <a16:creationId xmlns:a16="http://schemas.microsoft.com/office/drawing/2014/main" id="{1F60417F-25B3-488F-BC0C-298BB612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6B35"/>
                </a:solidFill>
              </a:defRPr>
            </a:pPr>
            <a:r>
              <a:rPr sz="975" b="1">
                <a:solidFill>
                  <a:srgbClr val="2E6B35"/>
                </a:solidFill>
              </a:rPr>
              <a:t>DATA AND TARGET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502F63F4-551D-4FCA-85AE-B502E557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51B"/>
                </a:solidFill>
              </a:defRPr>
            </a:pPr>
            <a:r>
              <a:rPr sz="2700" b="1">
                <a:solidFill>
                  <a:srgbClr val="17251B"/>
                </a:solidFill>
              </a:rPr>
              <a:t>The experiment uses time as a guardrail, not a random split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522F9-9A25-4A5D-A1E8-C5563D32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A60"/>
                </a:solidFill>
              </a:defRPr>
            </a:pPr>
            <a:r>
              <a:rPr sz="900" b="1">
                <a:solidFill>
                  <a:srgbClr val="5C6A60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4BC09-D90A-4B72-BF2A-7F3F60FD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6687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51B"/>
                </a:solidFill>
              </a:defRPr>
            </a:pPr>
            <a:r>
              <a:rPr sz="2025" b="1">
                <a:solidFill>
                  <a:srgbClr val="17251B"/>
                </a:solidFill>
              </a:rPr>
              <a:t>UCI Online Retail II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529CF-AE1B-42BC-84E0-2126BA3A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6B35"/>
                </a:solidFill>
              </a:defRPr>
            </a:pPr>
            <a:r>
              <a:rPr sz="1125" b="1">
                <a:solidFill>
                  <a:srgbClr val="2E6B35"/>
                </a:solidFill>
              </a:rPr>
              <a:t>CC BY 4.0 · DOI 10.24432/C5CG6D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5AC6C-3C28-4A3F-B110-FF7D0767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6B35"/>
                </a:solidFill>
              </a:defRPr>
            </a:pPr>
            <a:r>
              <a:rPr sz="2100" b="1">
                <a:solidFill>
                  <a:srgbClr val="2E6B35"/>
                </a:solidFill>
              </a:rPr>
              <a:t>1,067,371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8C719-5C15-4436-BE7F-EBA727DC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A60"/>
                </a:solidFill>
              </a:defRPr>
            </a:pPr>
            <a:r>
              <a:rPr sz="1125" b="0">
                <a:solidFill>
                  <a:srgbClr val="5C6A60"/>
                </a:solidFill>
              </a:rPr>
              <a:t>transaction lines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0002C-52A6-4D87-9794-FBC7D72C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241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6B35"/>
                </a:solidFill>
              </a:defRPr>
            </a:pPr>
            <a:r>
              <a:rPr sz="2100" b="1">
                <a:solidFill>
                  <a:srgbClr val="2E6B35"/>
                </a:solidFill>
              </a:rPr>
              <a:t>5,942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6E9F4-4B23-4D62-8127-9D3FF74C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813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A60"/>
                </a:solidFill>
              </a:defRPr>
            </a:pPr>
            <a:r>
              <a:rPr sz="1125" b="0">
                <a:solidFill>
                  <a:srgbClr val="5C6A60"/>
                </a:solidFill>
              </a:rPr>
              <a:t>identified customers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A90DCB-1535-44A3-83B0-AE2094E4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241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6B35"/>
                </a:solidFill>
              </a:defRPr>
            </a:pPr>
            <a:r>
              <a:rPr sz="2100" b="1">
                <a:solidFill>
                  <a:srgbClr val="2E6B35"/>
                </a:solidFill>
              </a:rPr>
              <a:t>90 days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861C5-1CB6-4124-A644-A86250B3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813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A60"/>
                </a:solidFill>
              </a:defRPr>
            </a:pPr>
            <a:r>
              <a:rPr sz="1125" b="0">
                <a:solidFill>
                  <a:srgbClr val="5C6A60"/>
                </a:solidFill>
              </a:rPr>
              <a:t>future inactivity window</a:t>
            </a:r>
          </a:p>
        </p:txBody>
      </p:sp>
      <p:sp>
        <p:nvSpPr>
          <p:cNvPr id="12" name="timeline">
            <a:extLst xmlns:a="http://schemas.openxmlformats.org/drawingml/2006/main">
              <a:ext uri="{FF2B5EF4-FFF2-40B4-BE49-F238E27FC236}">
                <a16:creationId xmlns:a16="http://schemas.microsoft.com/office/drawing/2014/main" id="{D136EBB3-E05A-4739-910C-D441E43E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14500"/>
            <a:ext cx="4762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0F3ED"/>
          </a:solidFill>
          <a:ln xmlns:a="http://schemas.openxmlformats.org/drawingml/2006/main" w="9525">
            <a:solidFill>
              <a:srgbClr val="F0F3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E7B05-4F25-4D61-80FC-970BA90C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288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6B35"/>
                </a:solidFill>
              </a:defRPr>
            </a:pPr>
            <a:r>
              <a:rPr sz="975" b="1">
                <a:solidFill>
                  <a:srgbClr val="2E6B35"/>
                </a:solidFill>
              </a:rPr>
              <a:t>TRAIN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02BC63-2983-4962-90F4-FD70D119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288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51B"/>
                </a:solidFill>
              </a:defRPr>
            </a:pPr>
            <a:r>
              <a:rPr sz="1200" b="1">
                <a:solidFill>
                  <a:srgbClr val="17251B"/>
                </a:solidFill>
              </a:rPr>
              <a:t>7 cutoffs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08B076-6B6E-42C9-B990-4468B870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0288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A60"/>
                </a:solidFill>
              </a:defRPr>
            </a:pPr>
            <a:r>
              <a:rPr sz="1125" b="0">
                <a:solidFill>
                  <a:srgbClr val="5C6A60"/>
                </a:solidFill>
              </a:rPr>
              <a:t>20,677 rows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320526-EBC0-44BF-926B-5FAB4EB1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670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6B35"/>
                </a:solidFill>
              </a:defRPr>
            </a:pPr>
            <a:r>
              <a:rPr sz="975" b="1">
                <a:solidFill>
                  <a:srgbClr val="2E6B35"/>
                </a:solidFill>
              </a:rPr>
              <a:t>VALIDATE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48CE17-60DD-40F1-A53D-AEBE8C9A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51B"/>
                </a:solidFill>
              </a:defRPr>
            </a:pPr>
            <a:r>
              <a:rPr sz="1200" b="1">
                <a:solidFill>
                  <a:srgbClr val="17251B"/>
                </a:solidFill>
              </a:rPr>
              <a:t>2011-03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9D92DA-25B0-49A5-9D6B-60FE3D80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6670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A60"/>
                </a:solidFill>
              </a:defRPr>
            </a:pPr>
            <a:r>
              <a:rPr sz="1125" b="0">
                <a:solidFill>
                  <a:srgbClr val="5C6A60"/>
                </a:solidFill>
              </a:rPr>
              <a:t>3,349 rows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E8512C-61B7-4B5D-A7BF-862895DD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0517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6B35"/>
                </a:solidFill>
              </a:defRPr>
            </a:pPr>
            <a:r>
              <a:rPr sz="975" b="1">
                <a:solidFill>
                  <a:srgbClr val="2E6B35"/>
                </a:solidFill>
              </a:rPr>
              <a:t>CALIBRATE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32671B-BE8A-4574-9727-73E96E76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051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51B"/>
                </a:solidFill>
              </a:defRPr>
            </a:pPr>
            <a:r>
              <a:rPr sz="1200" b="1">
                <a:solidFill>
                  <a:srgbClr val="17251B"/>
                </a:solidFill>
              </a:rPr>
              <a:t>2011-06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D5CBF6-75CF-4F90-92D8-8213D136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3051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A60"/>
                </a:solidFill>
              </a:defRPr>
            </a:pPr>
            <a:r>
              <a:rPr sz="1125" b="0">
                <a:solidFill>
                  <a:srgbClr val="5C6A60"/>
                </a:solidFill>
              </a:rPr>
              <a:t>2,659 rows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234019-E1D7-4093-9685-B247A425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433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6B35"/>
                </a:solidFill>
              </a:defRPr>
            </a:pPr>
            <a:r>
              <a:rPr sz="975" b="1">
                <a:solidFill>
                  <a:srgbClr val="2E6B35"/>
                </a:solidFill>
              </a:rPr>
              <a:t>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EECD81-B58A-4F2E-9ABE-F58AA47C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433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51B"/>
                </a:solidFill>
              </a:defRPr>
            </a:pPr>
            <a:r>
              <a:rPr sz="1200" b="1">
                <a:solidFill>
                  <a:srgbClr val="17251B"/>
                </a:solidFill>
              </a:rPr>
              <a:t>2011-09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6BE7F4-A285-43A6-B525-E697E572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9433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A60"/>
                </a:solidFill>
              </a:defRPr>
            </a:pPr>
            <a:r>
              <a:rPr sz="1125" b="0">
                <a:solidFill>
                  <a:srgbClr val="5C6A60"/>
                </a:solidFill>
              </a:rPr>
              <a:t>2,772 rows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1B74FB-5382-41A5-81E7-B6833E7A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33900"/>
            <a:ext cx="404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6B35"/>
                </a:solidFill>
              </a:defRPr>
            </a:pPr>
            <a:r>
              <a:rPr sz="1125" b="1">
                <a:solidFill>
                  <a:srgbClr val="2E6B35"/>
                </a:solidFill>
              </a:rPr>
              <a:t>Features use events strictly before each cutoff; every label window is fully observed.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C5D38B-C4CF-4687-B48F-BB2FDE5E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648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723"/>
          </a:solidFill>
          <a:ln xmlns:a="http://schemas.openxmlformats.org/drawingml/2006/main" w="0">
            <a:solidFill>
              <a:srgbClr val="10372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5AAF4E-05D9-4257-A6A3-8B82EBE8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054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Future inactivity is an operational proxy — not contractual churn and not campaign causality.</a:t>
            </a:r>
          </a:p>
        </p:txBody>
      </p:sp>
      <p:sp>
        <p:nvSpPr>
          <p:cNvPr id="2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5A08A34-A891-4CF2-941E-95621332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A60"/>
                </a:solidFill>
              </a:defRPr>
            </a:pPr>
            <a:r>
              <a:rPr sz="750" b="0">
                <a:solidFill>
                  <a:srgbClr val="5C6A60"/>
                </a:solidFill>
              </a:rPr>
              <a:t>UCI Online Retail II profile and temporal split artifacts.</a:t>
            </a:r>
          </a:p>
        </p:txBody>
      </p:sp>
      <p:sp>
        <p:nvSpPr>
          <p:cNvPr id="29" name="ai-footer">
            <a:extLst xmlns:a="http://schemas.openxmlformats.org/drawingml/2006/main">
              <a:ext uri="{FF2B5EF4-FFF2-40B4-BE49-F238E27FC236}">
                <a16:creationId xmlns:a16="http://schemas.microsoft.com/office/drawing/2014/main" id="{938857ED-48E8-4ABD-9AF4-36B33F7D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67475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C6A60"/>
                </a:solidFill>
              </a:defRPr>
            </a:pPr>
            <a:r>
              <a:rPr sz="675" b="0">
                <a:solidFill>
                  <a:srgbClr val="5C6A60"/>
                </a:solidFill>
              </a:rPr>
              <a:t>AI-assisted drafting disclosed · Human review required</a:t>
            </a:r>
          </a:p>
        </p:txBody>
      </p:sp>
    </p:spTree>
    <p:extLst>
      <p:ext uri="{BB962C8B-B14F-4D97-AF65-F5344CB8AC3E}">
        <p14:creationId xmlns:p14="http://schemas.microsoft.com/office/powerpoint/2010/main" val="17348550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5">
            <a:extLst xmlns:a="http://schemas.openxmlformats.org/drawingml/2006/main">
              <a:ext uri="{FF2B5EF4-FFF2-40B4-BE49-F238E27FC236}">
                <a16:creationId xmlns:a16="http://schemas.microsoft.com/office/drawing/2014/main" id="{8BE4EFFA-8169-4EE5-844E-E9EE1DDC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6B35"/>
                </a:solidFill>
              </a:defRPr>
            </a:pPr>
            <a:r>
              <a:rPr sz="975" b="1">
                <a:solidFill>
                  <a:srgbClr val="2E6B35"/>
                </a:solidFill>
              </a:rPr>
              <a:t>MODEL EXPLORATION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8C526F7-AABB-4E4F-9BC1-5C58ABC3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51B"/>
                </a:solidFill>
              </a:defRPr>
            </a:pPr>
            <a:r>
              <a:rPr sz="2700" b="1">
                <a:solidFill>
                  <a:srgbClr val="17251B"/>
                </a:solidFill>
              </a:rPr>
              <a:t>Evidence selected a simpler model than the concept predicted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AF93A-F584-46B9-BAC8-EAAFAF2E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A60"/>
                </a:solidFill>
              </a:defRPr>
            </a:pPr>
            <a:r>
              <a:rPr sz="900" b="1">
                <a:solidFill>
                  <a:srgbClr val="5C6A60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881594-F863-47BC-96E4-BD9FA26F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51B"/>
                </a:solidFill>
              </a:defRPr>
            </a:pPr>
            <a:r>
              <a:rPr sz="1650" b="1">
                <a:solidFill>
                  <a:srgbClr val="17251B"/>
                </a:solidFill>
              </a:rPr>
              <a:t>Validation PR-AUC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52450" y="1952625"/>
          <a:ext xmlns:a="http://schemas.openxmlformats.org/drawingml/2006/main" cx="6858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b730a185e44ab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36F26-ED09-4B1C-90A6-BCD70733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431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C6A60"/>
                </a:solidFill>
              </a:defRPr>
            </a:pPr>
            <a:r>
              <a:rPr sz="900" b="0">
                <a:solidFill>
                  <a:srgbClr val="5C6A60"/>
                </a:solidFill>
              </a:rPr>
              <a:t>0.805322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50D1F-89EF-45AD-A02F-E2788754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431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C6A60"/>
                </a:solidFill>
              </a:defRPr>
            </a:pPr>
            <a:r>
              <a:rPr sz="900" b="0">
                <a:solidFill>
                  <a:srgbClr val="5C6A60"/>
                </a:solidFill>
              </a:rPr>
              <a:t>0.805223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394DD-4089-40B3-B4AA-E6897A90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431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C6A60"/>
                </a:solidFill>
              </a:defRPr>
            </a:pPr>
            <a:r>
              <a:rPr sz="900" b="0">
                <a:solidFill>
                  <a:srgbClr val="5C6A60"/>
                </a:solidFill>
              </a:rPr>
              <a:t>0.803517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62A88-BA49-4AB3-9C7E-07913280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7908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C6A60"/>
                </a:solidFill>
              </a:defRPr>
            </a:pPr>
            <a:r>
              <a:rPr sz="900" b="0">
                <a:solidFill>
                  <a:srgbClr val="5C6A60"/>
                </a:solidFill>
              </a:rPr>
              <a:t>0.715529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20B2F4-43F7-456D-825F-05544E3D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861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C6A60"/>
                </a:solidFill>
              </a:defRPr>
            </a:pPr>
            <a:r>
              <a:rPr sz="900" b="0">
                <a:solidFill>
                  <a:srgbClr val="5C6A60"/>
                </a:solidFill>
              </a:rPr>
              <a:t>0.577187</a:t>
            </a:r>
          </a:p>
        </p:txBody>
      </p:sp>
      <p:sp>
        <p:nvSpPr>
          <p:cNvPr id="11" name="winner">
            <a:extLst xmlns:a="http://schemas.openxmlformats.org/drawingml/2006/main">
              <a:ext uri="{FF2B5EF4-FFF2-40B4-BE49-F238E27FC236}">
                <a16:creationId xmlns:a16="http://schemas.microsoft.com/office/drawing/2014/main" id="{8AE19281-1CDF-4964-8ED3-B2ED796B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8595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0F3ED"/>
          </a:solidFill>
          <a:ln xmlns:a="http://schemas.openxmlformats.org/drawingml/2006/main" w="9525">
            <a:solidFill>
              <a:srgbClr val="F0F3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6A6A91-C65C-4BDC-A9E3-F139C15F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6B35"/>
                </a:solidFill>
              </a:defRPr>
            </a:pPr>
            <a:r>
              <a:rPr sz="1275" b="1">
                <a:solidFill>
                  <a:srgbClr val="2E6B35"/>
                </a:solidFill>
              </a:rPr>
              <a:t>Selected for refinement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CC8FFC-F813-42A3-9B7A-42EFE942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3723"/>
                </a:solidFill>
              </a:defRPr>
            </a:pPr>
            <a:r>
              <a:rPr sz="2325" b="1">
                <a:solidFill>
                  <a:srgbClr val="103723"/>
                </a:solidFill>
              </a:rPr>
              <a:t>Regularized</a:t>
            </a:r>
          </a:p>
          <a:p xmlns:a="http://schemas.openxmlformats.org/drawingml/2006/main">
            <a:pPr algn="l">
              <a:defRPr sz="2325" b="1">
                <a:solidFill>
                  <a:srgbClr val="103723"/>
                </a:solidFill>
              </a:defRPr>
            </a:pPr>
            <a:r>
              <a:rPr sz="2325" b="1">
                <a:solidFill>
                  <a:srgbClr val="103723"/>
                </a:solidFill>
              </a:rPr>
              <a:t>logistic regression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484AE1-F654-419C-8625-D2778663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67150"/>
            <a:ext cx="2590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A60"/>
                </a:solidFill>
              </a:defRPr>
            </a:pPr>
            <a:r>
              <a:rPr sz="1200" b="0">
                <a:solidFill>
                  <a:srgbClr val="5C6A60"/>
                </a:solidFill>
              </a:rPr>
              <a:t>C = 0.01 improved validation PR-AUC to 0.812223. Sigmoid calibration and the ~10% threshold were then frozen before test access.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98E387-B634-478B-B9C5-32907F83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952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6B35"/>
                </a:solidFill>
              </a:defRPr>
            </a:pPr>
            <a:r>
              <a:rPr sz="1425" b="1">
                <a:solidFill>
                  <a:srgbClr val="2E6B35"/>
                </a:solidFill>
              </a:rPr>
              <a:t>LightGBM was not chosen merely because the original concept expected it.</a:t>
            </a:r>
          </a:p>
        </p:txBody>
      </p:sp>
      <p:sp>
        <p:nvSpPr>
          <p:cNvPr id="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26308E41-90AE-4D91-ADCE-05987EB7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A60"/>
                </a:solidFill>
              </a:defRPr>
            </a:pPr>
            <a:r>
              <a:rPr sz="750" b="0">
                <a:solidFill>
                  <a:srgbClr val="5C6A60"/>
                </a:solidFill>
              </a:rPr>
              <a:t>Project-executed validation only · artifacts/ml/model_exploration.json.</a:t>
            </a:r>
          </a:p>
        </p:txBody>
      </p:sp>
      <p:sp>
        <p:nvSpPr>
          <p:cNvPr id="17" name="ai-footer">
            <a:extLst xmlns:a="http://schemas.openxmlformats.org/drawingml/2006/main">
              <a:ext uri="{FF2B5EF4-FFF2-40B4-BE49-F238E27FC236}">
                <a16:creationId xmlns:a16="http://schemas.microsoft.com/office/drawing/2014/main" id="{748E6F0B-E114-441F-A7DA-0464AE4E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67475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C6A60"/>
                </a:solidFill>
              </a:defRPr>
            </a:pPr>
            <a:r>
              <a:rPr sz="675" b="0">
                <a:solidFill>
                  <a:srgbClr val="5C6A60"/>
                </a:solidFill>
              </a:rPr>
              <a:t>AI-assisted drafting disclosed · Human review required</a:t>
            </a:r>
          </a:p>
        </p:txBody>
      </p:sp>
    </p:spTree>
    <p:extLst>
      <p:ext uri="{BB962C8B-B14F-4D97-AF65-F5344CB8AC3E}">
        <p14:creationId xmlns:p14="http://schemas.microsoft.com/office/powerpoint/2010/main" val="16891697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6">
            <a:extLst xmlns:a="http://schemas.openxmlformats.org/drawingml/2006/main">
              <a:ext uri="{FF2B5EF4-FFF2-40B4-BE49-F238E27FC236}">
                <a16:creationId xmlns:a16="http://schemas.microsoft.com/office/drawing/2014/main" id="{22E030A9-7A49-4D9E-8E11-E5ACDFFC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6B35"/>
                </a:solidFill>
              </a:defRPr>
            </a:pPr>
            <a:r>
              <a:rPr sz="975" b="1">
                <a:solidFill>
                  <a:srgbClr val="2E6B35"/>
                </a:solidFill>
              </a:rPr>
              <a:t>UNTOUCHED FINAL EVALUATION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6A63FE90-5F8C-42A4-9228-D07325AD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51B"/>
                </a:solidFill>
              </a:defRPr>
            </a:pPr>
            <a:r>
              <a:rPr sz="2700" b="1">
                <a:solidFill>
                  <a:srgbClr val="17251B"/>
                </a:solidFill>
              </a:rPr>
              <a:t>The frozen test shows useful ranking and visible temporal shift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1B3CC-7F38-4AA7-B659-4098DA3F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A60"/>
                </a:solidFill>
              </a:defRPr>
            </a:pPr>
            <a:r>
              <a:rPr sz="900" b="1">
                <a:solidFill>
                  <a:srgbClr val="5C6A60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2F515B-721F-4B04-92BF-55E0A8EC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6B35"/>
                </a:solidFill>
              </a:defRPr>
            </a:pPr>
            <a:r>
              <a:rPr sz="2100" b="1">
                <a:solidFill>
                  <a:srgbClr val="2E6B35"/>
                </a:solidFill>
              </a:rPr>
              <a:t>0.647525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9A4E0-EE2F-464F-BB1A-708F76E0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907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A60"/>
                </a:solidFill>
              </a:defRPr>
            </a:pPr>
            <a:r>
              <a:rPr sz="1050" b="1">
                <a:solidFill>
                  <a:srgbClr val="5C6A60"/>
                </a:solidFill>
              </a:rPr>
              <a:t>PR-AUC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429B7-B385-4CFB-9F0E-A60CEF50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56210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6B35"/>
                </a:solidFill>
              </a:defRPr>
            </a:pPr>
            <a:r>
              <a:rPr sz="2100" b="1">
                <a:solidFill>
                  <a:srgbClr val="2E6B35"/>
                </a:solidFill>
              </a:rPr>
              <a:t>0.765878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B7D57-9F48-4795-A200-946494C3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9907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A60"/>
                </a:solidFill>
              </a:defRPr>
            </a:pPr>
            <a:r>
              <a:rPr sz="1050" b="1">
                <a:solidFill>
                  <a:srgbClr val="5C6A60"/>
                </a:solidFill>
              </a:rPr>
              <a:t>ROC-AUC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8A681C-2250-4894-84EE-D75C1D57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56210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6B35"/>
                </a:solidFill>
              </a:defRPr>
            </a:pPr>
            <a:r>
              <a:rPr sz="2100" b="1">
                <a:solidFill>
                  <a:srgbClr val="2E6B35"/>
                </a:solidFill>
              </a:rPr>
              <a:t>0.199854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14FAF6-8A3E-4035-999A-B655A388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907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A60"/>
                </a:solidFill>
              </a:defRPr>
            </a:pPr>
            <a:r>
              <a:rPr sz="1050" b="1">
                <a:solidFill>
                  <a:srgbClr val="5C6A60"/>
                </a:solidFill>
              </a:rPr>
              <a:t>Brier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C4D9C-A545-47F4-A014-48EC401C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56210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6B35"/>
                </a:solidFill>
              </a:defRPr>
            </a:pPr>
            <a:r>
              <a:rPr sz="2100" b="1">
                <a:solidFill>
                  <a:srgbClr val="2E6B35"/>
                </a:solidFill>
              </a:rPr>
              <a:t>1.904513×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9E9B3-4029-426A-92D2-9075E8DE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9907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A60"/>
                </a:solidFill>
              </a:defRPr>
            </a:pPr>
            <a:r>
              <a:rPr sz="1050" b="1">
                <a:solidFill>
                  <a:srgbClr val="5C6A60"/>
                </a:solidFill>
              </a:rPr>
              <a:t>Top-10% lift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089b9fb6d4031"/>
          <a:stretch xmlns:a="http://schemas.openxmlformats.org/drawingml/2006/main"/>
        </p:blipFill>
        <p:spPr>
          <a:xfrm xmlns:a="http://schemas.openxmlformats.org/drawingml/2006/main">
            <a:off x="552450" y="2514600"/>
            <a:ext cx="7620000" cy="3048000"/>
          </a:xfrm>
          <a:prstGeom xmlns:a="http://schemas.openxmlformats.org/drawingml/2006/main" prst="rect">
            <a:avLst/>
          </a:prstGeom>
        </p:spPr>
      </p:pic>
      <p:sp>
        <p:nvSpPr>
          <p:cNvPr id="13" name="threshold-summary">
            <a:extLst xmlns:a="http://schemas.openxmlformats.org/drawingml/2006/main">
              <a:ext uri="{FF2B5EF4-FFF2-40B4-BE49-F238E27FC236}">
                <a16:creationId xmlns:a16="http://schemas.microsoft.com/office/drawing/2014/main" id="{BC49933A-DC88-4BA2-830E-DEA53DCE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705100" cy="28003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0F3ED"/>
          </a:solidFill>
          <a:ln xmlns:a="http://schemas.openxmlformats.org/drawingml/2006/main" w="9525">
            <a:solidFill>
              <a:srgbClr val="F0F3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8B8E08-CD70-4AE6-B7A4-8FABE3AA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765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6B35"/>
                </a:solidFill>
              </a:defRPr>
            </a:pPr>
            <a:r>
              <a:rPr sz="1200" b="1">
                <a:solidFill>
                  <a:srgbClr val="2E6B35"/>
                </a:solidFill>
              </a:rPr>
              <a:t>Frozen threshold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22E5D7-B443-4C6D-8B8F-D9251A45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14700"/>
            <a:ext cx="1047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3723"/>
                </a:solidFill>
              </a:defRPr>
            </a:pPr>
            <a:r>
              <a:rPr sz="2700" b="1">
                <a:solidFill>
                  <a:srgbClr val="103723"/>
                </a:solidFill>
              </a:rPr>
              <a:t>302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B362A4-5D90-491E-A6F7-9931718C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8142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A60"/>
                </a:solidFill>
              </a:defRPr>
            </a:pPr>
            <a:r>
              <a:rPr sz="1200" b="0">
                <a:solidFill>
                  <a:srgbClr val="5C6A60"/>
                </a:solidFill>
              </a:rPr>
              <a:t>customers selected</a:t>
            </a:r>
          </a:p>
          <a:p xmlns:a="http://schemas.openxmlformats.org/drawingml/2006/main">
            <a:pPr algn="l">
              <a:defRPr sz="1200" b="0">
                <a:solidFill>
                  <a:srgbClr val="5C6A60"/>
                </a:solidFill>
              </a:defRPr>
            </a:pPr>
            <a:r>
              <a:rPr sz="1200" b="0">
                <a:solidFill>
                  <a:srgbClr val="5C6A60"/>
                </a:solidFill>
              </a:rPr>
              <a:t>10.8947% of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E7374F-F914-492B-BABA-1B4E5E63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148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51B"/>
                </a:solidFill>
              </a:defRPr>
            </a:pPr>
            <a:r>
              <a:rPr sz="1275" b="1">
                <a:solidFill>
                  <a:srgbClr val="17251B"/>
                </a:solidFill>
              </a:rPr>
              <a:t>Precision 0.735099</a:t>
            </a:r>
          </a:p>
          <a:p xmlns:a="http://schemas.openxmlformats.org/drawingml/2006/main">
            <a:pPr algn="l">
              <a:defRPr sz="1275" b="1">
                <a:solidFill>
                  <a:srgbClr val="17251B"/>
                </a:solidFill>
              </a:defRPr>
            </a:pPr>
            <a:r>
              <a:rPr sz="1275" b="1">
                <a:solidFill>
                  <a:srgbClr val="17251B"/>
                </a:solidFill>
              </a:rPr>
              <a:t>Recall 0.203857</a:t>
            </a:r>
          </a:p>
          <a:p xmlns:a="http://schemas.openxmlformats.org/drawingml/2006/main">
            <a:pPr algn="l">
              <a:defRPr sz="1275" b="1">
                <a:solidFill>
                  <a:srgbClr val="17251B"/>
                </a:solidFill>
              </a:defRPr>
            </a:pPr>
            <a:r>
              <a:rPr sz="1275" b="1">
                <a:solidFill>
                  <a:srgbClr val="17251B"/>
                </a:solidFill>
              </a:rPr>
              <a:t>F1 0.319195</a:t>
            </a:r>
          </a:p>
        </p:txBody>
      </p:sp>
      <p:sp>
        <p:nvSpPr>
          <p:cNvPr id="1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F33028DA-0A29-4134-9EBD-7DA6A4D8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A60"/>
                </a:solidFill>
              </a:defRPr>
            </a:pPr>
            <a:r>
              <a:rPr sz="750" b="0">
                <a:solidFill>
                  <a:srgbClr val="5C6A60"/>
                </a:solidFill>
              </a:rPr>
              <a:t>2,772-row 2011-09-01 holdout · 95% PR-AUC CI [0.618131, 0.678937].</a:t>
            </a:r>
          </a:p>
        </p:txBody>
      </p:sp>
      <p:sp>
        <p:nvSpPr>
          <p:cNvPr id="19" name="ai-footer">
            <a:extLst xmlns:a="http://schemas.openxmlformats.org/drawingml/2006/main">
              <a:ext uri="{FF2B5EF4-FFF2-40B4-BE49-F238E27FC236}">
                <a16:creationId xmlns:a16="http://schemas.microsoft.com/office/drawing/2014/main" id="{4D9D222D-313B-4386-BD4D-B081D585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67475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C6A60"/>
                </a:solidFill>
              </a:defRPr>
            </a:pPr>
            <a:r>
              <a:rPr sz="675" b="0">
                <a:solidFill>
                  <a:srgbClr val="5C6A60"/>
                </a:solidFill>
              </a:rPr>
              <a:t>AI-assisted drafting disclosed · Human review required</a:t>
            </a:r>
          </a:p>
        </p:txBody>
      </p:sp>
    </p:spTree>
    <p:extLst>
      <p:ext uri="{BB962C8B-B14F-4D97-AF65-F5344CB8AC3E}">
        <p14:creationId xmlns:p14="http://schemas.microsoft.com/office/powerpoint/2010/main" val="21376880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7">
            <a:extLst xmlns:a="http://schemas.openxmlformats.org/drawingml/2006/main">
              <a:ext uri="{FF2B5EF4-FFF2-40B4-BE49-F238E27FC236}">
                <a16:creationId xmlns:a16="http://schemas.microsoft.com/office/drawing/2014/main" id="{38D353CB-9FA3-4E05-94C4-70A86CE9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6B35"/>
                </a:solidFill>
              </a:defRPr>
            </a:pPr>
            <a:r>
              <a:rPr sz="975" b="1">
                <a:solidFill>
                  <a:srgbClr val="2E6B35"/>
                </a:solidFill>
              </a:rPr>
              <a:t>EXPLAINABILITY AND RESPONSIBLE AI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F310ECD-1BA8-4C5A-9A71-AA662EED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51B"/>
                </a:solidFill>
              </a:defRPr>
            </a:pPr>
            <a:r>
              <a:rPr sz="2700" b="1">
                <a:solidFill>
                  <a:srgbClr val="17251B"/>
                </a:solidFill>
              </a:rPr>
              <a:t>A score can inform review, but it never authorizes an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000DC-16BC-4BA5-9DC2-C89D2A59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A60"/>
                </a:solidFill>
              </a:defRPr>
            </a:pPr>
            <a:r>
              <a:rPr sz="900" b="1">
                <a:solidFill>
                  <a:srgbClr val="5C6A60"/>
                </a:solidFill>
              </a:rPr>
              <a:t>07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624e389bf7451f"/>
          <a:stretch xmlns:a="http://schemas.openxmlformats.org/drawingml/2006/main"/>
        </p:blipFill>
        <p:spPr>
          <a:xfrm xmlns:a="http://schemas.openxmlformats.org/drawingml/2006/main">
            <a:off x="772886" y="1543050"/>
            <a:ext cx="5578929" cy="3905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C7C8F-3C94-4A74-90B1-9C005659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383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51B"/>
                </a:solidFill>
              </a:defRPr>
            </a:pPr>
            <a:r>
              <a:rPr sz="1800" b="1">
                <a:solidFill>
                  <a:srgbClr val="17251B"/>
                </a:solidFill>
              </a:rPr>
              <a:t>Validated explanation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A757D-91C7-4537-9999-80489802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14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6B35"/>
                </a:solidFill>
              </a:defRPr>
            </a:pPr>
            <a:r>
              <a:rPr sz="1425" b="1">
                <a:solidFill>
                  <a:srgbClr val="2E6B35"/>
                </a:solidFill>
              </a:rPr>
              <a:t>Maximum SHAP additivity error</a:t>
            </a:r>
          </a:p>
          <a:p xmlns:a="http://schemas.openxmlformats.org/drawingml/2006/main">
            <a:pPr algn="l">
              <a:defRPr sz="1425" b="1">
                <a:solidFill>
                  <a:srgbClr val="2E6B35"/>
                </a:solidFill>
              </a:defRPr>
            </a:pPr>
            <a:r>
              <a:rPr sz="1425" b="1">
                <a:solidFill>
                  <a:srgbClr val="2E6B35"/>
                </a:solidFill>
              </a:rPr>
              <a:t>8.88 × 10⁻¹⁶ in calibrated log-odds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4B610-07BA-4634-98B4-5582C662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765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B35"/>
          </a:solidFill>
          <a:ln xmlns:a="http://schemas.openxmlformats.org/drawingml/2006/main" w="0">
            <a:solidFill>
              <a:srgbClr val="2E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8CF46-BDF0-4FB2-BC11-5EE194AA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051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E2B72-5F23-4D6B-8816-9ADEB54E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051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51B"/>
                </a:solidFill>
              </a:defRPr>
            </a:pPr>
            <a:r>
              <a:rPr sz="1275" b="1">
                <a:solidFill>
                  <a:srgbClr val="17251B"/>
                </a:solidFill>
              </a:rPr>
              <a:t>Current consent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1D6DF-C33E-4965-8DA2-342AFA12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14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B35"/>
          </a:solidFill>
          <a:ln xmlns:a="http://schemas.openxmlformats.org/drawingml/2006/main" w="0">
            <a:solidFill>
              <a:srgbClr val="2E6B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092BDB-32DE-42B2-AAF3-06C6FAC8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433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77972C-2D53-473E-9F83-430AD58A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433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51B"/>
                </a:solidFill>
              </a:defRPr>
            </a:pPr>
            <a:r>
              <a:rPr sz="1275" b="1">
                <a:solidFill>
                  <a:srgbClr val="17251B"/>
                </a:solidFill>
              </a:rPr>
              <a:t>Eligible audience snapshot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66FB59-2B68-44BF-8BD9-F63A672A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52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B35"/>
          </a:solidFill>
          <a:ln xmlns:a="http://schemas.openxmlformats.org/drawingml/2006/main" w="0">
            <a:solidFill>
              <a:srgbClr val="2E6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E40746-7B02-4706-A899-65427B76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814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814AA-6738-44C2-997A-A5EDDA1B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814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51B"/>
                </a:solidFill>
              </a:defRPr>
            </a:pPr>
            <a:r>
              <a:rPr sz="1275" b="1">
                <a:solidFill>
                  <a:srgbClr val="17251B"/>
                </a:solidFill>
              </a:rPr>
              <a:t>Authorized reviewer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66FED6-0B48-4DEB-A6F6-05617928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910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B35"/>
          </a:solidFill>
          <a:ln xmlns:a="http://schemas.openxmlformats.org/drawingml/2006/main" w="0">
            <a:solidFill>
              <a:srgbClr val="2E6B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9876F6-1634-4586-BBBD-3E4B8910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196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C12ED5-B8B7-4F92-A01B-B1BF7B6E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196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51B"/>
                </a:solidFill>
              </a:defRPr>
            </a:pPr>
            <a:r>
              <a:rPr sz="1275" b="1">
                <a:solidFill>
                  <a:srgbClr val="17251B"/>
                </a:solidFill>
              </a:rPr>
              <a:t>Explicit approval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AA3AFC-52F8-4606-AFAB-6A03FF60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291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B35"/>
          </a:solidFill>
          <a:ln xmlns:a="http://schemas.openxmlformats.org/drawingml/2006/main" w="0">
            <a:solidFill>
              <a:srgbClr val="2E6B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32E367-35F9-42DB-AD4B-0E66087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577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8A7CAF-AC34-4970-9A03-19D51D7B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57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51B"/>
                </a:solidFill>
              </a:defRPr>
            </a:pPr>
            <a:r>
              <a:rPr sz="1275" b="1">
                <a:solidFill>
                  <a:srgbClr val="17251B"/>
                </a:solidFill>
              </a:rPr>
              <a:t>Kill switch + budget cap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F241CB-FEB1-48C2-B4B5-CD506813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1057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6B35"/>
                </a:solidFill>
              </a:defRPr>
            </a:pPr>
            <a:r>
              <a:rPr sz="1350" b="1">
                <a:solidFill>
                  <a:srgbClr val="2E6B35"/>
                </a:solidFill>
              </a:rPr>
              <a:t>SHAP explains fitted score formation — not why a customer behaves or what will change them.</a:t>
            </a:r>
          </a:p>
        </p:txBody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06237145-FAA3-434E-BA55-F4260D59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A60"/>
                </a:solidFill>
              </a:defRPr>
            </a:pPr>
            <a:r>
              <a:rPr sz="750" b="0">
                <a:solidFill>
                  <a:srgbClr val="5C6A60"/>
                </a:solidFill>
              </a:rPr>
              <a:t>Project explanation artifact and implemented consent/approval controls.</a:t>
            </a:r>
          </a:p>
        </p:txBody>
      </p:sp>
      <p:sp>
        <p:nvSpPr>
          <p:cNvPr id="24" name="ai-footer">
            <a:extLst xmlns:a="http://schemas.openxmlformats.org/drawingml/2006/main">
              <a:ext uri="{FF2B5EF4-FFF2-40B4-BE49-F238E27FC236}">
                <a16:creationId xmlns:a16="http://schemas.microsoft.com/office/drawing/2014/main" id="{32A05E6D-3023-4883-825E-4F7290CB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67475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C6A60"/>
                </a:solidFill>
              </a:defRPr>
            </a:pPr>
            <a:r>
              <a:rPr sz="675" b="0">
                <a:solidFill>
                  <a:srgbClr val="5C6A60"/>
                </a:solidFill>
              </a:rPr>
              <a:t>AI-assisted drafting disclosed · Human review required</a:t>
            </a:r>
          </a:p>
        </p:txBody>
      </p:sp>
    </p:spTree>
    <p:extLst>
      <p:ext uri="{BB962C8B-B14F-4D97-AF65-F5344CB8AC3E}">
        <p14:creationId xmlns:p14="http://schemas.microsoft.com/office/powerpoint/2010/main" val="13951620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3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8">
            <a:extLst xmlns:a="http://schemas.openxmlformats.org/drawingml/2006/main">
              <a:ext uri="{FF2B5EF4-FFF2-40B4-BE49-F238E27FC236}">
                <a16:creationId xmlns:a16="http://schemas.microsoft.com/office/drawing/2014/main" id="{D5E53FBA-53CB-49BD-B13F-F2C67E4F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CC8B"/>
                </a:solidFill>
              </a:defRPr>
            </a:pPr>
            <a:r>
              <a:rPr sz="975" b="1">
                <a:solidFill>
                  <a:srgbClr val="A8CC8B"/>
                </a:solidFill>
              </a:rPr>
              <a:t>PROJECT LEAD DECISION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F221C40-B0B6-411B-821B-341EFCE6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Local evidence is ready; production proof remains external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0688F-7B02-4853-8462-2F615B75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CC8B"/>
                </a:solidFill>
              </a:defRPr>
            </a:pPr>
            <a:r>
              <a:rPr sz="900" b="1">
                <a:solidFill>
                  <a:srgbClr val="A8CC8B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9848A-189C-4741-9136-9211CAFF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8CC8B"/>
                </a:solidFill>
              </a:defRPr>
            </a:pPr>
            <a:r>
              <a:rPr sz="1875" b="1">
                <a:solidFill>
                  <a:srgbClr val="A8CC8B"/>
                </a:solidFill>
              </a:rPr>
              <a:t>Completed locally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C18FC-D1E6-4063-B768-C333D3D4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✓  Tenant-safe CRM / commerce / imports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B17CF2-55C6-41D3-A68A-4E61BBD6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✓  Versioned analytics and model registry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B55C3-2041-4487-A6A5-69EBF4E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✓  Audiences, approvals and audit trail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41EAF0-C3E3-4B28-B8C8-CD723D67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✓  Written assignments + final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6F9276-0679-4FE6-B107-F6CAC2A4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573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8CC8B"/>
                </a:solidFill>
              </a:defRPr>
            </a:pPr>
            <a:r>
              <a:rPr sz="1875" b="1">
                <a:solidFill>
                  <a:srgbClr val="A8CC8B"/>
                </a:solidFill>
              </a:rPr>
              <a:t>External validation still required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5239DB-AB7F-4201-8B0D-41A8F0A6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09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○  Live Meta / Google / LLM / OIDC sandboxes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AEEBE-754D-444E-95BE-3B80870A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62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○  Browser accessibility and load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C16349-26A5-41FC-86AE-5FFC9A35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14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○  Managed backup / restore rehearsal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BA8480-2FD8-4882-9401-A008E059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67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○  Randomized pilot for incremental impact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DCF1EB-CA05-4106-9C46-604D48D1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33950"/>
            <a:ext cx="10515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72E"/>
          </a:solidFill>
          <a:ln xmlns:a="http://schemas.openxmlformats.org/drawingml/2006/main" w="0">
            <a:solidFill>
              <a:srgbClr val="1D57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2648BE-2DEE-48CC-A406-66CFA41A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Decision requested: audit the local package. Publication, deployment and live spend remain separately gated.</a:t>
            </a:r>
          </a:p>
        </p:txBody>
      </p:sp>
      <p:sp>
        <p:nvSpPr>
          <p:cNvPr id="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6A7B160-F32F-4D1F-9BAA-86DF1E97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8CC8B"/>
                </a:solidFill>
              </a:defRPr>
            </a:pPr>
            <a:r>
              <a:rPr sz="750" b="0">
                <a:solidFill>
                  <a:srgbClr val="A8CC8B"/>
                </a:solidFill>
              </a:rPr>
              <a:t>No push · no paid deployment · no live advertising spend.</a:t>
            </a:r>
          </a:p>
        </p:txBody>
      </p:sp>
      <p:sp>
        <p:nvSpPr>
          <p:cNvPr id="17" name="ai-footer">
            <a:extLst xmlns:a="http://schemas.openxmlformats.org/drawingml/2006/main">
              <a:ext uri="{FF2B5EF4-FFF2-40B4-BE49-F238E27FC236}">
                <a16:creationId xmlns:a16="http://schemas.microsoft.com/office/drawing/2014/main" id="{45D98581-8C2E-4A3D-99E6-D50E235D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67475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8CC8B"/>
                </a:solidFill>
              </a:defRPr>
            </a:pPr>
            <a:r>
              <a:rPr sz="675" b="0">
                <a:solidFill>
                  <a:srgbClr val="A8CC8B"/>
                </a:solidFill>
              </a:rPr>
              <a:t>AI-assisted drafting disclosed · Human review required</a:t>
            </a:r>
          </a:p>
        </p:txBody>
      </p:sp>
    </p:spTree>
    <p:extLst>
      <p:ext uri="{BB962C8B-B14F-4D97-AF65-F5344CB8AC3E}">
        <p14:creationId xmlns:p14="http://schemas.microsoft.com/office/powerpoint/2010/main" val="18337414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2026-09-09T08:13:15.2080000Z</dcterms:created>
  <dcterms:modified xsi:type="dcterms:W3CDTF">2026-09-09T08:13:15.2080000Z</dcterms:modified>
</coreProperties>
</file>