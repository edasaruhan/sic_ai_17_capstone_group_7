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05d617075f4df9" /><Relationship Type="http://schemas.openxmlformats.org/officeDocument/2006/relationships/extended-properties" Target="/docProps/app.xml" Id="Ra82f7eb901bd42ba" /><Relationship Type="http://schemas.openxmlformats.org/officeDocument/2006/relationships/officeDocument" Target="/ppt/presentation.xml" Id="R78c0a892399a41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dc03f14f684a30"/>
  </p:sldMasterIdLst>
  <p:notesMasterIdLst>
    <p:notesMasterId xmlns:r="http://schemas.openxmlformats.org/officeDocument/2006/relationships" r:id="R2668a4277f23451c"/>
  </p:notesMasterIdLst>
  <p:sldIdLst>
    <p:sldId xmlns:r="http://schemas.openxmlformats.org/officeDocument/2006/relationships" id="256" r:id="R8cd7d6a270594713"/>
    <p:sldId xmlns:r="http://schemas.openxmlformats.org/officeDocument/2006/relationships" id="257" r:id="R822e1cfd1ead456b"/>
    <p:sldId xmlns:r="http://schemas.openxmlformats.org/officeDocument/2006/relationships" id="258" r:id="R9f2727f95c5d4289"/>
    <p:sldId xmlns:r="http://schemas.openxmlformats.org/officeDocument/2006/relationships" id="259" r:id="R327af36b8cf3465e"/>
    <p:sldId xmlns:r="http://schemas.openxmlformats.org/officeDocument/2006/relationships" id="260" r:id="Rd87395ff6ef241c0"/>
    <p:sldId xmlns:r="http://schemas.openxmlformats.org/officeDocument/2006/relationships" id="261" r:id="Rad4eca055b6441aa"/>
    <p:sldId xmlns:r="http://schemas.openxmlformats.org/officeDocument/2006/relationships" id="262" r:id="R443be32cbc4741fb"/>
    <p:sldId xmlns:r="http://schemas.openxmlformats.org/officeDocument/2006/relationships" id="263" r:id="Rdfc6646aecf049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6dc7e8926f488f" /><Relationship Type="http://schemas.openxmlformats.org/officeDocument/2006/relationships/slideMaster" Target="/ppt/slideMasters/slideMaster1.xml" Id="R93dc03f14f684a30" /><Relationship Type="http://schemas.openxmlformats.org/officeDocument/2006/relationships/notesMaster" Target="/ppt/notesMasters/notesMaster1.xml" Id="R2668a4277f23451c" /><Relationship Type="http://schemas.openxmlformats.org/officeDocument/2006/relationships/presProps" Target="/ppt/presProps.xml" Id="Rbffc3a0b71a54c11" /><Relationship Type="http://schemas.openxmlformats.org/officeDocument/2006/relationships/tableStyles" Target="/ppt/tableStyles.xml" Id="Rd5d68271542a40ee" /><Relationship Type="http://schemas.openxmlformats.org/officeDocument/2006/relationships/slide" Target="/ppt/slides/slide1.xml" Id="R8cd7d6a270594713" /><Relationship Type="http://schemas.openxmlformats.org/officeDocument/2006/relationships/slide" Target="/ppt/slides/slide2.xml" Id="R822e1cfd1ead456b" /><Relationship Type="http://schemas.openxmlformats.org/officeDocument/2006/relationships/slide" Target="/ppt/slides/slide3.xml" Id="R9f2727f95c5d4289" /><Relationship Type="http://schemas.openxmlformats.org/officeDocument/2006/relationships/slide" Target="/ppt/slides/slide4.xml" Id="R327af36b8cf3465e" /><Relationship Type="http://schemas.openxmlformats.org/officeDocument/2006/relationships/slide" Target="/ppt/slides/slide5.xml" Id="Rd87395ff6ef241c0" /><Relationship Type="http://schemas.openxmlformats.org/officeDocument/2006/relationships/slide" Target="/ppt/slides/slide6.xml" Id="Rad4eca055b6441aa" /><Relationship Type="http://schemas.openxmlformats.org/officeDocument/2006/relationships/slide" Target="/ppt/slides/slide7.xml" Id="R443be32cbc4741fb" /><Relationship Type="http://schemas.openxmlformats.org/officeDocument/2006/relationships/slide" Target="/ppt/slides/slide8.xml" Id="Rdfc6646aecf049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c2bc5df46c48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a538d3176d40b4" /><Relationship Type="http://schemas.openxmlformats.org/officeDocument/2006/relationships/notesMaster" Target="/ppt/notesMasters/notesMaster1.xml" Id="Ra655702bda034f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83080c18b347ff" /><Relationship Type="http://schemas.openxmlformats.org/officeDocument/2006/relationships/notesMaster" Target="/ppt/notesMasters/notesMaster1.xml" Id="R67de55fb802348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ff9ee00e344fa5" /><Relationship Type="http://schemas.openxmlformats.org/officeDocument/2006/relationships/notesMaster" Target="/ppt/notesMasters/notesMaster1.xml" Id="R87aeaf3e924943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374a0d3ecb4792" /><Relationship Type="http://schemas.openxmlformats.org/officeDocument/2006/relationships/notesMaster" Target="/ppt/notesMasters/notesMaster1.xml" Id="R225215c6d8c444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7608aeb68f4a9c" /><Relationship Type="http://schemas.openxmlformats.org/officeDocument/2006/relationships/notesMaster" Target="/ppt/notesMasters/notesMaster1.xml" Id="Rb5928c7401f045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13ebc3c33f4523" /><Relationship Type="http://schemas.openxmlformats.org/officeDocument/2006/relationships/notesMaster" Target="/ppt/notesMasters/notesMaster1.xml" Id="R3cb8fe54fe3841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a1ea8d6a4e492b" /><Relationship Type="http://schemas.openxmlformats.org/officeDocument/2006/relationships/notesMaster" Target="/ppt/notesMasters/notesMaster1.xml" Id="R57e6e3adc7354e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e07f228ec04ab9" /><Relationship Type="http://schemas.openxmlformats.org/officeDocument/2006/relationships/notesMaster" Target="/ppt/notesMasters/notesMaster1.xml" Id="R408614ea82b24b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ca4c8e20149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928546ef3648b6" /><Relationship Type="http://schemas.openxmlformats.org/officeDocument/2006/relationships/slideLayout" Target="/ppt/slideLayouts/slideLayout1.xml" Id="R6b005a2be1634c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005a2be1634c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1905acbd34e1f" /><Relationship Type="http://schemas.openxmlformats.org/officeDocument/2006/relationships/notesSlide" Target="/ppt/notesSlides/notesSlide1.xml" Id="Rb3f207b7a01844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1e738c7e841a0" /><Relationship Type="http://schemas.openxmlformats.org/officeDocument/2006/relationships/notesSlide" Target="/ppt/notesSlides/notesSlide2.xml" Id="R63cccf32c88348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99d0faad74421" /><Relationship Type="http://schemas.openxmlformats.org/officeDocument/2006/relationships/notesSlide" Target="/ppt/notesSlides/notesSlide3.xml" Id="R353fd2afb67b46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7b0b033b545b9" /><Relationship Type="http://schemas.openxmlformats.org/officeDocument/2006/relationships/notesSlide" Target="/ppt/notesSlides/notesSlide4.xml" Id="R697d98a42df44e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f67713e764679" /><Relationship Type="http://schemas.openxmlformats.org/officeDocument/2006/relationships/chart" Target="/ppt/slides/charts/chart1.xml" Id="R33b730a185e44ab9" /><Relationship Type="http://schemas.openxmlformats.org/officeDocument/2006/relationships/notesSlide" Target="/ppt/notesSlides/notesSlide5.xml" Id="R2dfd64ded00249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2119bb8f04288" /><Relationship Type="http://schemas.openxmlformats.org/officeDocument/2006/relationships/image" Target="/ppt/media/image.png" Id="R3ad089b9fb6d4031" /><Relationship Type="http://schemas.openxmlformats.org/officeDocument/2006/relationships/notesSlide" Target="/ppt/notesSlides/notesSlide6.xml" Id="Rcb088c4a61b146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fc7f2f05a4571" /><Relationship Type="http://schemas.openxmlformats.org/officeDocument/2006/relationships/image" Target="/ppt/media/image2.png" Id="R2c624e389bf7451f" /><Relationship Type="http://schemas.openxmlformats.org/officeDocument/2006/relationships/notesSlide" Target="/ppt/notesSlides/notesSlide7.xml" Id="Rf2ef71243cf44e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059fbc31d4e15" /><Relationship Type="http://schemas.openxmlformats.org/officeDocument/2006/relationships/notesSlide" Target="/ppt/notesSlides/notesSlide8.xml" Id="Ra16ad64fac0044e8" /></Relationships>
</file>

<file path=ppt/slides/charts/chart1.xml><?xml version="1.0" encoding="utf-8"?>
<ns0:chartSpace xmlns:ns0="http://schemas.openxmlformats.org/drawingml/2006/chart" xmlns:ns1="http://schemas.openxmlformats.org/drawingml/2006/main">
  <ns0:lang val="en-US"/>
  <ns0:chart>
    <ns0:plotArea>
      <ns0:barChart>
        <ns0:barDir val="col"/>
        <ns0:varyColors val="0"/>
        <ns0:ser>
          <ns0:idx val="0"/>
          <ns0:order val="0"/>
          <ns0:tx>
            <ns0:v>PR-AUC</ns0:v>
          </ns0:tx>
          <ns0:spPr>
            <ns1:solidFill>
              <ns1:srgbClr val="2E6B35"/>
            </ns1:solidFill>
          </ns0:spPr>
          <ns0:dLbls/>
          <ns0:cat>
            <ns0:strLit>
              <ns0:ptCount val="5"/>
              <ns0:pt idx="0">
                <ns0:v>Lojistik</ns0:v>
              </ns0:pt>
              <ns0:pt idx="1">
                <ns0:v>LightGBM</ns0:v>
              </ns0:pt>
              <ns0:pt idx="2">
                <ns0:v>Rastgele orman</ns0:v>
              </ns0:pt>
              <ns0:pt idx="3">
                <ns0:v>Yakınlık</ns0:v>
              </ns0:pt>
              <ns0:pt idx="4">
                <ns0:v>Kukla</ns0:v>
              </ns0:pt>
            </ns0:strLit>
          </ns0:cat>
          <ns0:val>
            <ns0:numLit>
              <ns0:formatCode>General</ns0:formatCode>
              <ns0:ptCount val="5"/>
              <ns0:pt idx="0">
                <ns0:v>0.805322</ns0:v>
              </ns0:pt>
              <ns0:pt idx="1">
                <ns0:v>0.805223</ns0:v>
              </ns0:pt>
              <ns0:pt idx="2">
                <ns0:v>0.803517</ns0:v>
              </ns0:pt>
              <ns0:pt idx="3">
                <ns0:v>0.715529</ns0:v>
              </ns0:pt>
              <ns0:pt idx="4">
                <ns0:v>0.577187</ns0:v>
              </ns0:pt>
            </ns0:numLit>
          </ns0:val>
        </ns0:ser>
        <ns0:dLbls>
          <ns0:showVal val="0"/>
        </ns0:dLbls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majorGridlines>
          <ns0:spPr>
            <ns1:ln w="9525">
              <ns1:solidFill>
                <ns1:srgbClr val="DDE4DB"/>
              </ns1:solidFill>
              <ns1:prstDash val="solid"/>
            </ns1:ln>
          </ns0:spPr>
        </ns0:majorGridlines>
        <ns0:numFmt formatCode="General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>
                <ns1:solidFill>
                  <ns1:srgbClr val="666666"/>
                </ns1:solidFill>
              </ns1:defRPr>
            </ns1:pPr>
          </ns1:p>
        </ns0:txPr>
        <ns0:crossAx val="48672768"/>
        <ns0:crosses val="autoZero"/>
        <ns0:lblAlgn val="ctr"/>
        <ns0:lblOffset val="100"/>
        <ns0:noMultiLvlLbl val="0"/>
      </ns0:catAx>
      <ns0:valAx>
        <ns0:axId val="48672768"/>
        <ns0:scaling>
          <ns0:orientation val="minMax"/>
        </ns0:scaling>
        <ns0:delete val="1"/>
        <ns0:axPos val="l"/>
        <ns0:numFmt formatCode="General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>
                <ns1:solidFill>
                  <ns1:srgbClr val="666666"/>
                </ns1:solidFill>
              </ns1:defRPr>
            </ns1:pPr>
          </ns1:p>
        </ns0:txPr>
        <ns0:crossAx val="48650112"/>
        <ns0:crosses val="autoZero"/>
        <ns0:crossBetween val="between"/>
      </ns0:valAx>
    </ns0:plotArea>
    <ns0:plotVisOnly val="1"/>
  </ns0:chart>
</ns0:chartSpace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10372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20DBBCB8-F33C-45E8-8620-FA9FA0267500}"/>
              </ns1:ext>
            </ns1:extLst>
          </ns0:cNvPr>
          <ns0:cNvSpPr>
            <ns1:spLocks noGrp="1"/>
          </ns0:cNvSpPr>
          <ns0:nvPr/>
        </ns0:nvSpPr>
        <ns0:spPr>
          <ns1:xfrm>
            <ns1:off x="9715500" y="0"/>
            <ns1:ext cx="2476500" cy="2476500"/>
          </ns1:xfrm>
          <ns1:prstGeom prst="ellipse">
            <ns1:avLst/>
          </ns1:prstGeom>
          <ns1:solidFill>
            <ns1:srgbClr val="1C542C"/>
          </ns1:solidFill>
          <ns1:ln w="0">
            <ns1:noFill/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2A81B7D2-EE4F-415F-82DF-F55A212033F4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0" y="4953000"/>
            <ns1:ext cx="2095500" cy="1905000"/>
          </ns1:xfrm>
          <ns1:prstGeom prst="ellipse">
            <ns1:avLst/>
          </ns1:prstGeom>
          <ns1:solidFill>
            <ns1:srgbClr val="345D32"/>
          </ns1:solidFill>
          <ns1:ln w="0">
            <ns1:noFill/>
            <ns1:prstDash val="solid"/>
          </ns1:ln>
        </ns0:spPr>
      </ns0:sp>
      <ns0:sp>
        <ns0:nvSpPr>
          <ns0:cNvPr id="3" name="deck-title">
            <ns1:extLst>
              <ns1:ext uri="{FF2B5EF4-FFF2-40B4-BE49-F238E27FC236}">
                <ns2:creationId id="{F2A61782-B1CF-401A-9AFA-82B93AC754FA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1924050"/>
            <ns1:ext cx="7429500" cy="838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4350" b="1">
                <ns1:solidFill>
                  <ns1:srgbClr val="FFFFFF"/>
                </ns1:solidFill>
              </ns1:defRPr>
            </ns1:pPr>
            <ns1:r>
              <ns1:rPr sz="4350" b="1">
                <ns1:solidFill>
                  <ns1:srgbClr val="FFFFFF"/>
                </ns1:solidFill>
              </ns1:rPr>
              <ns1:t>GrowthPilot AI</ns1:t>
            </ns1:r>
          </ns1:p>
        </ns0:txBody>
      </ns0:sp>
      <ns0:sp>
        <ns0:nvSpPr>
          <ns0:cNvPr id="4" name="deck-subtitle">
            <ns1:extLst>
              <ns1:ext uri="{FF2B5EF4-FFF2-40B4-BE49-F238E27FC236}">
                <ns2:creationId id="{4998E4D0-3124-46E6-A01F-2D665E90612C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914650"/>
            <ns1:ext cx="7048500" cy="742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800" b="0">
                <ns1:solidFill>
                  <ns1:srgbClr val="C1D7B3"/>
                </ns1:solidFill>
              </ns1:defRPr>
            </ns1:pPr>
            <ns1:r>
              <ns1:rPr sz="1800" b="0">
                <ns1:solidFill>
                  <ns1:srgbClr val="C1D7B3"/>
                </ns1:solidFill>
              </ns1:rPr>
              <ns1:t>Müşteri operasyonları, açıklanabilir hareketsizlik riski ve denetimli pazarlama eylemi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8A43DCEA-EEEA-470B-9029-3F756242ED52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734050"/>
            <ns1:ext cx="6858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125" b="1">
                <ns1:solidFill>
                  <ns1:srgbClr val="A8CC8B"/>
                </ns1:solidFill>
              </ns1:defRPr>
            </ns1:pPr>
            <ns1:r>
              <ns1:rPr sz="1125" b="1">
                <ns1:solidFill>
                  <ns1:srgbClr val="A8CC8B"/>
                </ns1:solidFill>
              </ns1:rPr>
              <ns1:t>Samsung Innovation Campus · Grup 7 · Şahin Başcı</ns1:t>
            </ns1:r>
          </ns1:p>
        </ns0:txBody>
      </ns0:sp>
      <ns0:sp>
        <ns0:nvSpPr>
          <ns0:cNvPr id="6" name="source-footer">
            <ns1:extLst>
              <ns1:ext uri="{FF2B5EF4-FFF2-40B4-BE49-F238E27FC236}">
                <ns2:creationId id="{441E21F4-A0FE-4249-8557-0E150BC12C6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67475"/>
            <ns1:ext cx="9906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750" b="0">
                <ns1:solidFill>
                  <ns1:srgbClr val="A8CC8B"/>
                </ns1:solidFill>
              </ns1:defRPr>
            </ns1:pPr>
            <ns1:r>
              <ns1:rPr sz="750" b="0">
                <ns1:solidFill>
                  <ns1:srgbClr val="A8CC8B"/>
                </ns1:solidFill>
              </ns1:rPr>
              <ns1:t>Nihai yerel kanıt paketi · 9 Eylül 2026</ns1:t>
            </ns1:r>
          </ns1:p>
        </ns0:txBody>
      </ns0:sp>
      <ns0:sp>
        <ns0:nvSpPr>
          <ns0:cNvPr id="7" name="ai-footer">
            <ns1:extLst>
              <ns1:ext uri="{FF2B5EF4-FFF2-40B4-BE49-F238E27FC236}">
                <ns2:creationId id="{448A597F-30B3-4640-815D-A992DBDEB42D}"/>
              </ns1:ext>
            </ns1:extLst>
          </ns0:cNvPr>
          <ns0:cNvSpPr>
            <ns1:spLocks noGrp="1"/>
          </ns0:cNvSpPr>
          <ns0:nvPr/>
        </ns0:nvSpPr>
        <ns0:spPr>
          <ns1:xfrm>
            <ns1:off x="8763000" y="6467475"/>
            <ns1:ext cx="28194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675" b="0">
                <ns1:solidFill>
                  <ns1:srgbClr val="A8CC8B"/>
                </ns1:solidFill>
              </ns1:defRPr>
            </ns1:pPr>
            <ns1:r>
              <ns1:rPr sz="675" b="0">
                <ns1:solidFill>
                  <ns1:srgbClr val="A8CC8B"/>
                </ns1:solidFill>
              </ns1:rPr>
              <ns1:t>Yapay zekâ desteği açıklanmıştır · İnsan incelemesi gereklidir</ns1:t>
            </ns1:r>
          </ns1:p>
        </ns0:txBody>
      </ns0:sp>
    </ns0:spTree>
    <ns0:extLst>
      <ns0:ext uri="{BB962C8B-B14F-4D97-AF65-F5344CB8AC3E}">
        <ns3:creationId val="1080101503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kicker-2">
            <ns1:extLst>
              <ns1:ext uri="{FF2B5EF4-FFF2-40B4-BE49-F238E27FC236}">
                <ns2:creationId id="{F8F26F99-9175-4FEF-A14A-C17FB239C307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61950"/>
            <ns1:ext cx="7239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975" b="1">
                <ns1:solidFill>
                  <ns1:srgbClr val="2E6B35"/>
                </ns1:solidFill>
              </ns1:defRPr>
            </ns1:pPr>
            <ns1:r>
              <ns1:rPr sz="975" b="1">
                <ns1:solidFill>
                  <ns1:srgbClr val="2E6B35"/>
                </ns1:solidFill>
              </ns1:rPr>
              <ns1:t>OPERASYON SORUNU</ns1:t>
            </ns1:r>
          </ns1:p>
        </ns0:txBody>
      </ns0:sp>
      <ns0:sp>
        <ns0:nvSpPr>
          <ns0:cNvPr id="2" name="title-2">
            <ns1:extLst>
              <ns1:ext uri="{FF2B5EF4-FFF2-40B4-BE49-F238E27FC236}">
                <ns2:creationId id="{118A054A-C2F0-4DC3-8805-14D9696CAAA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85800"/>
            <ns1:ext cx="10572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700" b="1">
                <ns1:solidFill>
                  <ns1:srgbClr val="17251B"/>
                </ns1:solidFill>
              </ns1:defRPr>
            </ns1:pPr>
            <ns1:r>
              <ns1:rPr sz="2700" b="1">
                <ns1:solidFill>
                  <ns1:srgbClr val="17251B"/>
                </ns1:solidFill>
              </ns1:rPr>
              <ns1:t>Kanıt izi parçalandığında pazarlama kararları başarısız olur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A0A9589D-245A-4D65-BB3C-B17E50996F54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419100"/>
            <ns1:ext cx="3429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900" b="1">
                <ns1:solidFill>
                  <ns1:srgbClr val="5C6A60"/>
                </ns1:solidFill>
              </ns1:defRPr>
            </ns1:pPr>
            <ns1:r>
              <ns1:rPr sz="900" b="1">
                <ns1:solidFill>
                  <ns1:srgbClr val="5C6A60"/>
                </ns1:solidFill>
              </ns1:rPr>
              <ns1:t>02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A95DF06C-AED6-4A05-A303-0EF25A0F73C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752600"/>
            <ns1:ext cx="4381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1">
                <ns1:solidFill>
                  <ns1:srgbClr val="86B93B"/>
                </ns1:solidFill>
              </ns1:defRPr>
            </ns1:pPr>
            <ns1:r>
              <ns1:rPr sz="1275" b="1">
                <ns1:solidFill>
                  <ns1:srgbClr val="86B93B"/>
                </ns1:solidFill>
              </ns1:rPr>
              <ns1:t>01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1992C440-6BE9-49CC-9FFB-E10E2F11342E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" y="1695450"/>
            <ns1:ext cx="2381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725" b="1">
                <ns1:solidFill>
                  <ns1:srgbClr val="17251B"/>
                </ns1:solidFill>
              </ns1:defRPr>
            </ns1:pPr>
            <ns1:r>
              <ns1:rPr sz="1725" b="1">
                <ns1:solidFill>
                  <ns1:srgbClr val="17251B"/>
                </ns1:solidFill>
              </ns1:rPr>
              <ns1:t>Müşteri bağlamı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F88EFFED-7FBA-44A3-8F57-51B26108CEAA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" y="2057400"/>
            <ns1:ext cx="447675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5C6A60"/>
                </ns1:solidFill>
              </ns1:defRPr>
            </ns1:pPr>
            <ns1:r>
              <ns1:rPr sz="1275" b="0">
                <ns1:solidFill>
                  <ns1:srgbClr val="5C6A60"/>
                </ns1:solidFill>
              </ns1:rPr>
              <ns1:t>CRM notları ve rıza, sipariş ve değerden kopuktur.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BCF0224F-FA73-4B76-94AB-392A0E07D26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952750"/>
            <ns1:ext cx="4381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1">
                <ns1:solidFill>
                  <ns1:srgbClr val="86B93B"/>
                </ns1:solidFill>
              </ns1:defRPr>
            </ns1:pPr>
            <ns1:r>
              <ns1:rPr sz="1275" b="1">
                <ns1:solidFill>
                  <ns1:srgbClr val="86B93B"/>
                </ns1:solidFill>
              </ns1:rPr>
              <ns1:t>02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53CF410C-8569-41C9-9366-B3E7BC6A6695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" y="2895600"/>
            <ns1:ext cx="2381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725" b="1">
                <ns1:solidFill>
                  <ns1:srgbClr val="17251B"/>
                </ns1:solidFill>
              </ns1:defRPr>
            </ns1:pPr>
            <ns1:r>
              <ns1:rPr sz="1725" b="1">
                <ns1:solidFill>
                  <ns1:srgbClr val="17251B"/>
                </ns1:solidFill>
              </ns1:rPr>
              <ns1:t>Ticari gerçek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460657EC-E1EE-4D75-BFDF-AFD65B3D6EFD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" y="3257550"/>
            <ns1:ext cx="447675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5C6A60"/>
                </ns1:solidFill>
              </ns1:defRPr>
            </ns1:pPr>
            <ns1:r>
              <ns1:rPr sz="1275" b="0">
                <ns1:solidFill>
                  <ns1:srgbClr val="5C6A60"/>
                </ns1:solidFill>
              </ns1:rPr>
              <ns1:t>Stok, iade ve gelir tanımları dosyalar arasında değişir.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D5FA646A-301C-4482-9CDE-19BE010B4916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152900"/>
            <ns1:ext cx="4381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1">
                <ns1:solidFill>
                  <ns1:srgbClr val="86B93B"/>
                </ns1:solidFill>
              </ns1:defRPr>
            </ns1:pPr>
            <ns1:r>
              <ns1:rPr sz="1275" b="1">
                <ns1:solidFill>
                  <ns1:srgbClr val="86B93B"/>
                </ns1:solidFill>
              </ns1:rPr>
              <ns1:t>03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879E13D6-010F-4DB3-976F-D9F013225FB4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" y="4095750"/>
            <ns1:ext cx="2381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725" b="1">
                <ns1:solidFill>
                  <ns1:srgbClr val="17251B"/>
                </ns1:solidFill>
              </ns1:defRPr>
            </ns1:pPr>
            <ns1:r>
              <ns1:rPr sz="1725" b="1">
                <ns1:solidFill>
                  <ns1:srgbClr val="17251B"/>
                </ns1:solidFill>
              </ns1:rPr>
              <ns1:t>Ücretli medya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A3CDF7B8-C152-4AE3-A948-50D271D6F826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" y="4457700"/>
            <ns1:ext cx="447675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5C6A60"/>
                </ns1:solidFill>
              </ns1:defRPr>
            </ns1:pPr>
            <ns1:r>
              <ns1:rPr sz="1275" b="0">
                <ns1:solidFill>
                  <ns1:srgbClr val="5C6A60"/>
                </ns1:solidFill>
              </ns1:rPr>
              <ns1:t>Sağlayıcı ölçütleri tutarlı kaynak ve kimlik olmadan gelir.</ns1:t>
            </ns1:r>
          </ns1:p>
        </ns0:txBody>
      </ns0:sp>
      <ns0:sp>
        <ns0:nvSpPr>
          <ns0:cNvPr id="13" name="problem-statement">
            <ns1:extLst>
              <ns1:ext uri="{FF2B5EF4-FFF2-40B4-BE49-F238E27FC236}">
                <ns2:creationId id="{B3F6B17D-6ADC-4F4B-B2D0-C38794577A1B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1714500"/>
            <ns1:ext cx="4667250" cy="3143250"/>
          </ns1:xfrm>
          <ns1:prstGeom prst="roundRect">
            <ns1:avLst>
              <ns1:gd name="adj" fmla="val 3636"/>
            </ns1:avLst>
          </ns1:prstGeom>
          <ns1:solidFill>
            <ns1:srgbClr val="F0F3ED"/>
          </ns1:solidFill>
          <ns1:ln w="9525">
            <ns1:solidFill>
              <ns1:srgbClr val="F0F3ED"/>
            </ns1:solidFill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4F50558F-4669-4FC3-9AE7-508980079857}"/>
              </ns1:ext>
            </ns1:extLst>
          </ns0:cNvPr>
          <ns0:cNvSpPr>
            <ns1:spLocks noGrp="1"/>
          </ns0:cNvSpPr>
          <ns0:nvPr/>
        </ns0:nvSpPr>
        <ns0:spPr>
          <ns1:xfrm>
            <ns1:off x="6991350" y="2209800"/>
            <ns1:ext cx="3810000" cy="704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250" b="1">
                <ns1:solidFill>
                  <ns1:srgbClr val="103723"/>
                </ns1:solidFill>
              </ns1:defRPr>
            </ns1:pPr>
            <ns1:r>
              <ns1:rPr sz="2250" b="1">
                <ns1:solidFill>
                  <ns1:srgbClr val="103723"/>
                </ns1:solidFill>
              </ns1:rPr>
              <ns1:t>Darboğaz, gösterge paneli eksikliği değildir.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A2D59C32-F6D9-4A7F-90A0-83DBEF39FAB8}"/>
              </ns1:ext>
            </ns1:extLst>
          </ns0:cNvPr>
          <ns0:cNvSpPr>
            <ns1:spLocks noGrp="1"/>
          </ns0:cNvSpPr>
          <ns0:nvPr/>
        </ns0:nvSpPr>
        <ns0:spPr>
          <ns1:xfrm>
            <ns1:off x="6991350" y="3143250"/>
            <ns1:ext cx="3714750" cy="857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725" b="0">
                <ns1:solidFill>
                  <ns1:srgbClr val="2E6B35"/>
                </ns1:solidFill>
              </ns1:defRPr>
            </ns1:pPr>
            <ns1:r>
              <ns1:rPr sz="1725" b="0">
                <ns1:solidFill>
                  <ns1:srgbClr val="2E6B35"/>
                </ns1:solidFill>
              </ns1:rPr>
              <ns1:t>Sorun, veriden incelenmiş karara uzanan izlenebilir yolun olmamasıdır.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1784C78C-F73F-45C2-84A3-D376121DF531}"/>
              </ns1:ext>
            </ns1:extLst>
          </ns0:cNvPr>
          <ns0:cNvSpPr>
            <ns1:spLocks noGrp="1"/>
          </ns0:cNvSpPr>
          <ns0:nvPr/>
        </ns0:nvSpPr>
        <ns0:spPr>
          <ns1:xfrm>
            <ns1:off x="6991350" y="4171950"/>
            <ns1:ext cx="371475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0">
                <ns1:solidFill>
                  <ns1:srgbClr val="5C6A60"/>
                </ns1:solidFill>
              </ns1:defRPr>
            </ns1:pPr>
            <ns1:r>
              <ns1:rPr sz="1200" b="0">
                <ns1:solidFill>
                  <ns1:srgbClr val="5C6A60"/>
                </ns1:solidFill>
              </ns1:rPr>
              <ns1:t>GrowthPilot kaynak, kiracı kapsamı, rıza ve onayı bu yolun parçası yapar.</ns1:t>
            </ns1:r>
          </ns1:p>
        </ns0:txBody>
      </ns0:sp>
      <ns0:sp>
        <ns0:nvSpPr>
          <ns0:cNvPr id="17" name="source-footer">
            <ns1:extLst>
              <ns1:ext uri="{FF2B5EF4-FFF2-40B4-BE49-F238E27FC236}">
                <ns2:creationId id="{0609962C-DD8C-44F9-AB34-EDBA93CFC05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67475"/>
            <ns1:ext cx="9906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750" b="0">
                <ns1:solidFill>
                  <ns1:srgbClr val="5C6A60"/>
                </ns1:solidFill>
              </ns1:defRPr>
            </ns1:pPr>
            <ns1:r>
              <ns1:rPr sz="750" b="0">
                <ns1:solidFill>
                  <ns1:srgbClr val="5C6A60"/>
                </ns1:solidFill>
              </ns1:rPr>
              <ns1:t>Proje problem çerçevesi; ticari sonuç iddia edilmez.</ns1:t>
            </ns1:r>
          </ns1:p>
        </ns0:txBody>
      </ns0:sp>
      <ns0:sp>
        <ns0:nvSpPr>
          <ns0:cNvPr id="18" name="ai-footer">
            <ns1:extLst>
              <ns1:ext uri="{FF2B5EF4-FFF2-40B4-BE49-F238E27FC236}">
                <ns2:creationId id="{7CF4D978-5DEA-4F91-B8A0-9ED723D93CBA}"/>
              </ns1:ext>
            </ns1:extLst>
          </ns0:cNvPr>
          <ns0:cNvSpPr>
            <ns1:spLocks noGrp="1"/>
          </ns0:cNvSpPr>
          <ns0:nvPr/>
        </ns0:nvSpPr>
        <ns0:spPr>
          <ns1:xfrm>
            <ns1:off x="8763000" y="6467475"/>
            <ns1:ext cx="28194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675" b="0">
                <ns1:solidFill>
                  <ns1:srgbClr val="5C6A60"/>
                </ns1:solidFill>
              </ns1:defRPr>
            </ns1:pPr>
            <ns1:r>
              <ns1:rPr sz="675" b="0">
                <ns1:solidFill>
                  <ns1:srgbClr val="5C6A60"/>
                </ns1:solidFill>
              </ns1:rPr>
              <ns1:t>Yapay zekâ desteği açıklanmıştır · İnsan incelemesi gereklidir</ns1:t>
            </ns1:r>
          </ns1:p>
        </ns0:txBody>
      </ns0:sp>
    </ns0:spTree>
    <ns0:extLst>
      <ns0:ext uri="{BB962C8B-B14F-4D97-AF65-F5344CB8AC3E}">
        <ns3:creationId val="1111524363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kicker-3">
            <ns1:extLst>
              <ns1:ext uri="{FF2B5EF4-FFF2-40B4-BE49-F238E27FC236}">
                <ns2:creationId id="{47FFCE24-3E5E-4C69-AEE8-B10BA244929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61950"/>
            <ns1:ext cx="7239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975" b="1">
                <ns1:solidFill>
                  <ns1:srgbClr val="2E6B35"/>
                </ns1:solidFill>
              </ns1:defRPr>
            </ns1:pPr>
            <ns1:r>
              <ns1:rPr sz="975" b="1">
                <ns1:solidFill>
                  <ns1:srgbClr val="2E6B35"/>
                </ns1:solidFill>
              </ns1:rPr>
              <ns1:t>ÜRÜN</ns1:t>
            </ns1:r>
          </ns1:p>
        </ns0:txBody>
      </ns0:sp>
      <ns0:sp>
        <ns0:nvSpPr>
          <ns0:cNvPr id="2" name="title-3">
            <ns1:extLst>
              <ns1:ext uri="{FF2B5EF4-FFF2-40B4-BE49-F238E27FC236}">
                <ns2:creationId id="{D3607A7C-506C-440F-BAA1-D768E4AC49C8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85800"/>
            <ns1:ext cx="10572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700" b="1">
                <ns1:solidFill>
                  <ns1:srgbClr val="17251B"/>
                </ns1:solidFill>
              </ns1:defRPr>
            </ns1:pPr>
            <ns1:r>
              <ns1:rPr sz="2700" b="1">
                <ns1:solidFill>
                  <ns1:srgbClr val="17251B"/>
                </ns1:solidFill>
              </ns1:rPr>
              <ns1:t>Tek yönetişimli akış, kaynak veriyi insan eylemine bağlar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1BC1B6D5-0179-4AE3-8C52-508D9D6D3E1E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419100"/>
            <ns1:ext cx="3429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900" b="1">
                <ns1:solidFill>
                  <ns1:srgbClr val="5C6A60"/>
                </ns1:solidFill>
              </ns1:defRPr>
            </ns1:pPr>
            <ns1:r>
              <ns1:rPr sz="900" b="1">
                <ns1:solidFill>
                  <ns1:srgbClr val="5C6A60"/>
                </ns1:solidFill>
              </ns1:rPr>
              <ns1:t>03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33194397-FE40-4575-9636-760EB012E6B0}"/>
              </ns1:ext>
            </ns1:extLst>
          </ns0:cNvPr>
          <ns0:cNvSpPr>
            <ns1:spLocks noGrp="1"/>
          </ns0:cNvSpPr>
          <ns0:nvPr/>
        </ns0:nvSpPr>
        <ns0:spPr>
          <ns1:xfrm>
            <ns1:off x="2476500" y="2628900"/>
            <ns1:ext cx="3810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2100" b="1">
                <ns1:solidFill>
                  <ns1:srgbClr val="2E6B35"/>
                </ns1:solidFill>
              </ns1:defRPr>
            </ns1:pPr>
            <ns1:r>
              <ns1:rPr sz="2100" b="1">
                <ns1:solidFill>
                  <ns1:srgbClr val="2E6B35"/>
                </ns1:solidFill>
              </ns1:rPr>
              <ns1:t>→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3DCC9285-3B22-4BC6-8907-84B9629EA147}"/>
              </ns1:ext>
            </ns1:extLst>
          </ns0:cNvPr>
          <ns0:cNvSpPr>
            <ns1:spLocks noGrp="1"/>
          </ns0:cNvSpPr>
          <ns0:nvPr/>
        </ns0:nvSpPr>
        <ns0:spPr>
          <ns1:xfrm>
            <ns1:off x="4762500" y="2628900"/>
            <ns1:ext cx="3810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2100" b="1">
                <ns1:solidFill>
                  <ns1:srgbClr val="2E6B35"/>
                </ns1:solidFill>
              </ns1:defRPr>
            </ns1:pPr>
            <ns1:r>
              <ns1:rPr sz="2100" b="1">
                <ns1:solidFill>
                  <ns1:srgbClr val="2E6B35"/>
                </ns1:solidFill>
              </ns1:rPr>
              <ns1:t>→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A2DA82E8-1B84-49E0-A127-C55FC25859D7}"/>
              </ns1:ext>
            </ns1:extLst>
          </ns0:cNvPr>
          <ns0:cNvSpPr>
            <ns1:spLocks noGrp="1"/>
          </ns0:cNvSpPr>
          <ns0:nvPr/>
        </ns0:nvSpPr>
        <ns0:spPr>
          <ns1:xfrm>
            <ns1:off x="7048500" y="2628900"/>
            <ns1:ext cx="3810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2100" b="1">
                <ns1:solidFill>
                  <ns1:srgbClr val="2E6B35"/>
                </ns1:solidFill>
              </ns1:defRPr>
            </ns1:pPr>
            <ns1:r>
              <ns1:rPr sz="2100" b="1">
                <ns1:solidFill>
                  <ns1:srgbClr val="2E6B35"/>
                </ns1:solidFill>
              </ns1:rPr>
              <ns1:t>→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81D06E25-8A03-4ED2-A47E-51485B17E356}"/>
              </ns1:ext>
            </ns1:extLst>
          </ns0:cNvPr>
          <ns0:cNvSpPr>
            <ns1:spLocks noGrp="1"/>
          </ns0:cNvSpPr>
          <ns0:nvPr/>
        </ns0:nvSpPr>
        <ns0:spPr>
          <ns1:xfrm>
            <ns1:off x="9334500" y="2628900"/>
            <ns1:ext cx="3810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2100" b="1">
                <ns1:solidFill>
                  <ns1:srgbClr val="2E6B35"/>
                </ns1:solidFill>
              </ns1:defRPr>
            </ns1:pPr>
            <ns1:r>
              <ns1:rPr sz="2100" b="1">
                <ns1:solidFill>
                  <ns1:srgbClr val="2E6B35"/>
                </ns1:solidFill>
              </ns1:rPr>
              <ns1:t>→</ns1:t>
            </ns1:r>
          </ns1:p>
        </ns0:txBody>
      </ns0:sp>
      <ns0:sp>
        <ns0:nvSpPr>
          <ns0:cNvPr id="8" name="workflow-0">
            <ns1:extLst>
              <ns1:ext uri="{FF2B5EF4-FFF2-40B4-BE49-F238E27FC236}">
                <ns2:creationId id="{F2D3F18D-7E35-4D29-86EC-319CDB3683A4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1952625"/>
            <ns1:ext cx="1866900" cy="1809750"/>
          </ns1:xfrm>
          <ns1:prstGeom prst="roundRect">
            <ns1:avLst>
              <ns1:gd name="adj" fmla="val 6316"/>
            </ns1:avLst>
          </ns1:prstGeom>
          <ns1:solidFill>
            <ns1:srgbClr val="FFFFFF"/>
          </ns1:solidFill>
          <ns1:ln w="9525">
            <ns1:solidFill>
              <ns1:srgbClr val="BFD2C0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800264A8-3EE7-4B1B-B970-123F5D2CBC00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2209800"/>
            <ns1:ext cx="14859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1">
                <ns1:solidFill>
                  <ns1:srgbClr val="2E6B35"/>
                </ns1:solidFill>
              </ns1:defRPr>
            </ns1:pPr>
            <ns1:r>
              <ns1:rPr sz="1050" b="1">
                <ns1:solidFill>
                  <ns1:srgbClr val="2E6B35"/>
                </ns1:solidFill>
              </ns1:rPr>
              <ns1:t>1 · AL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9656C609-953D-4B2E-8A00-7BE923306B93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2647950"/>
            <ns1:ext cx="1485900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350" b="1">
                <ns1:solidFill>
                  <ns1:srgbClr val="17251B"/>
                </ns1:solidFill>
              </ns1:defRPr>
            </ns1:pPr>
            <ns1:r>
              <ns1:rPr sz="1350" b="1">
                <ns1:solidFill>
                  <ns1:srgbClr val="17251B"/>
                </ns1:solidFill>
              </ns1:rPr>
              <ns1:t>Doğrulanmış içe aktarımlar</ns1:t>
            </ns1:r>
          </ns1:p>
          <ns1:p>
            <ns1:pPr algn="l">
              <ns1:defRPr sz="1350" b="1">
                <ns1:solidFill>
                  <ns1:srgbClr val="17251B"/>
                </ns1:solidFill>
              </ns1:defRPr>
            </ns1:pPr>
            <ns1:r>
              <ns1:rPr sz="1350" b="1">
                <ns1:solidFill>
                  <ns1:srgbClr val="17251B"/>
                </ns1:solidFill>
              </ns1:rPr>
              <ns1:t>ve sağlayıcı bağdaştırıcıları</ns1:t>
            </ns1:r>
          </ns1:p>
        </ns0:txBody>
      </ns0:sp>
      <ns0:sp>
        <ns0:nvSpPr>
          <ns0:cNvPr id="11" name="workflow-1">
            <ns1:extLst>
              <ns1:ext uri="{FF2B5EF4-FFF2-40B4-BE49-F238E27FC236}">
                <ns2:creationId id="{86F2E61C-CA88-48E8-979B-7AE2626A790F}"/>
              </ns1:ext>
            </ns1:extLst>
          </ns0:cNvPr>
          <ns0:cNvSpPr>
            <ns1:spLocks noGrp="1"/>
          </ns0:cNvSpPr>
          <ns0:nvPr/>
        </ns0:nvSpPr>
        <ns0:spPr>
          <ns1:xfrm>
            <ns1:off x="2876550" y="1952625"/>
            <ns1:ext cx="1866900" cy="1809750"/>
          </ns1:xfrm>
          <ns1:prstGeom prst="roundRect">
            <ns1:avLst>
              <ns1:gd name="adj" fmla="val 6316"/>
            </ns1:avLst>
          </ns1:prstGeom>
          <ns1:solidFill>
            <ns1:srgbClr val="FFFFFF"/>
          </ns1:solidFill>
          <ns1:ln w="9525">
            <ns1:solidFill>
              <ns1:srgbClr val="BFD2C0"/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4DC19B1F-DE39-48E1-ACE5-78A83542B1FE}"/>
              </ns1:ext>
            </ns1:extLst>
          </ns0:cNvPr>
          <ns0:cNvSpPr>
            <ns1:spLocks noGrp="1"/>
          </ns0:cNvSpPr>
          <ns0:nvPr/>
        </ns0:nvSpPr>
        <ns0:spPr>
          <ns1:xfrm>
            <ns1:off x="3067050" y="2209800"/>
            <ns1:ext cx="14859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1">
                <ns1:solidFill>
                  <ns1:srgbClr val="2E6B35"/>
                </ns1:solidFill>
              </ns1:defRPr>
            </ns1:pPr>
            <ns1:r>
              <ns1:rPr sz="1050" b="1">
                <ns1:solidFill>
                  <ns1:srgbClr val="2E6B35"/>
                </ns1:solidFill>
              </ns1:rPr>
              <ns1:t>2 · SAKLA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171D79AD-32C7-4298-A2BA-4F9C4C40535E}"/>
              </ns1:ext>
            </ns1:extLst>
          </ns0:cNvPr>
          <ns0:cNvSpPr>
            <ns1:spLocks noGrp="1"/>
          </ns0:cNvSpPr>
          <ns0:nvPr/>
        </ns0:nvSpPr>
        <ns0:spPr>
          <ns1:xfrm>
            <ns1:off x="3067050" y="2647950"/>
            <ns1:ext cx="1485900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350" b="1">
                <ns1:solidFill>
                  <ns1:srgbClr val="17251B"/>
                </ns1:solidFill>
              </ns1:defRPr>
            </ns1:pPr>
            <ns1:r>
              <ns1:rPr sz="1350" b="1">
                <ns1:solidFill>
                  <ns1:srgbClr val="17251B"/>
                </ns1:solidFill>
              </ns1:rPr>
              <ns1:t>Standart kayıtlar</ns1:t>
            </ns1:r>
          </ns1:p>
          <ns1:p>
            <ns1:pPr algn="l">
              <ns1:defRPr sz="1350" b="1">
                <ns1:solidFill>
                  <ns1:srgbClr val="17251B"/>
                </ns1:solidFill>
              </ns1:defRPr>
            </ns1:pPr>
            <ns1:r>
              <ns1:rPr sz="1350" b="1">
                <ns1:solidFill>
                  <ns1:srgbClr val="17251B"/>
                </ns1:solidFill>
              </ns1:rPr>
              <ns1:t>ve PostgreSQL RLS</ns1:t>
            </ns1:r>
          </ns1:p>
        </ns0:txBody>
      </ns0:sp>
      <ns0:sp>
        <ns0:nvSpPr>
          <ns0:cNvPr id="14" name="workflow-2">
            <ns1:extLst>
              <ns1:ext uri="{FF2B5EF4-FFF2-40B4-BE49-F238E27FC236}">
                <ns2:creationId id="{1A7CE3FD-8575-4B43-AB8B-4D341BDF1CAC}"/>
              </ns1:ext>
            </ns1:extLst>
          </ns0:cNvPr>
          <ns0:cNvSpPr>
            <ns1:spLocks noGrp="1"/>
          </ns0:cNvSpPr>
          <ns0:nvPr/>
        </ns0:nvSpPr>
        <ns0:spPr>
          <ns1:xfrm>
            <ns1:off x="5162550" y="1952625"/>
            <ns1:ext cx="1866900" cy="1809750"/>
          </ns1:xfrm>
          <ns1:prstGeom prst="roundRect">
            <ns1:avLst>
              <ns1:gd name="adj" fmla="val 6316"/>
            </ns1:avLst>
          </ns1:prstGeom>
          <ns1:solidFill>
            <ns1:srgbClr val="FFFFFF"/>
          </ns1:solidFill>
          <ns1:ln w="9525">
            <ns1:solidFill>
              <ns1:srgbClr val="BFD2C0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DF1E22F4-126E-4553-9CD3-60D7670D10B6}"/>
              </ns1:ext>
            </ns1:extLst>
          </ns0:cNvPr>
          <ns0:cNvSpPr>
            <ns1:spLocks noGrp="1"/>
          </ns0:cNvSpPr>
          <ns0:nvPr/>
        </ns0:nvSpPr>
        <ns0:spPr>
          <ns1:xfrm>
            <ns1:off x="5353050" y="2209800"/>
            <ns1:ext cx="14859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1">
                <ns1:solidFill>
                  <ns1:srgbClr val="2E6B35"/>
                </ns1:solidFill>
              </ns1:defRPr>
            </ns1:pPr>
            <ns1:r>
              <ns1:rPr sz="1050" b="1">
                <ns1:solidFill>
                  <ns1:srgbClr val="2E6B35"/>
                </ns1:solidFill>
              </ns1:rPr>
              <ns1:t>3 · ANALİZ ET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3E665941-46DC-4667-BD0E-CE7997CD482F}"/>
              </ns1:ext>
            </ns1:extLst>
          </ns0:cNvPr>
          <ns0:cNvSpPr>
            <ns1:spLocks noGrp="1"/>
          </ns0:cNvSpPr>
          <ns0:nvPr/>
        </ns0:nvSpPr>
        <ns0:spPr>
          <ns1:xfrm>
            <ns1:off x="5353050" y="2647950"/>
            <ns1:ext cx="1485900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350" b="1">
                <ns1:solidFill>
                  <ns1:srgbClr val="17251B"/>
                </ns1:solidFill>
              </ns1:defRPr>
            </ns1:pPr>
            <ns1:r>
              <ns1:rPr sz="1350" b="1">
                <ns1:solidFill>
                  <ns1:srgbClr val="17251B"/>
                </ns1:solidFill>
              </ns1:rPr>
              <ns1:t>Sürümlü KPI, RFM</ns1:t>
            </ns1:r>
          </ns1:p>
          <ns1:p>
            <ns1:pPr algn="l">
              <ns1:defRPr sz="1350" b="1">
                <ns1:solidFill>
                  <ns1:srgbClr val="17251B"/>
                </ns1:solidFill>
              </ns1:defRPr>
            </ns1:pPr>
            <ns1:r>
              <ns1:rPr sz="1350" b="1">
                <ns1:solidFill>
                  <ns1:srgbClr val="17251B"/>
                </ns1:solidFill>
              </ns1:rPr>
              <ns1:t>ve hareketsizlik puanı</ns1:t>
            </ns1:r>
          </ns1:p>
        </ns0:txBody>
      </ns0:sp>
      <ns0:sp>
        <ns0:nvSpPr>
          <ns0:cNvPr id="17" name="workflow-3">
            <ns1:extLst>
              <ns1:ext uri="{FF2B5EF4-FFF2-40B4-BE49-F238E27FC236}">
                <ns2:creationId id="{D59F1E7B-640E-4CC9-85A4-56BC251E04AF}"/>
              </ns1:ext>
            </ns1:extLst>
          </ns0:cNvPr>
          <ns0:cNvSpPr>
            <ns1:spLocks noGrp="1"/>
          </ns0:cNvSpPr>
          <ns0:nvPr/>
        </ns0:nvSpPr>
        <ns0:spPr>
          <ns1:xfrm>
            <ns1:off x="7448550" y="1952625"/>
            <ns1:ext cx="1866900" cy="1809750"/>
          </ns1:xfrm>
          <ns1:prstGeom prst="roundRect">
            <ns1:avLst>
              <ns1:gd name="adj" fmla="val 6316"/>
            </ns1:avLst>
          </ns1:prstGeom>
          <ns1:solidFill>
            <ns1:srgbClr val="FFFFFF"/>
          </ns1:solidFill>
          <ns1:ln w="9525">
            <ns1:solidFill>
              <ns1:srgbClr val="BFD2C0"/>
            </ns1:solidFill>
            <ns1:prstDash val="solid"/>
          </ns1:ln>
        </ns0:spPr>
      </ns0:sp>
      <ns0:sp>
        <ns0:nvSpPr>
          <ns0:cNvPr id="18" name="">
            <ns1:extLst>
              <ns1:ext uri="{FF2B5EF4-FFF2-40B4-BE49-F238E27FC236}">
                <ns2:creationId id="{737210AB-475D-4280-A1F7-AC4A7CA987B9}"/>
              </ns1:ext>
            </ns1:extLst>
          </ns0:cNvPr>
          <ns0:cNvSpPr>
            <ns1:spLocks noGrp="1"/>
          </ns0:cNvSpPr>
          <ns0:nvPr/>
        </ns0:nvSpPr>
        <ns0:spPr>
          <ns1:xfrm>
            <ns1:off x="7639050" y="2209800"/>
            <ns1:ext cx="14859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1">
                <ns1:solidFill>
                  <ns1:srgbClr val="2E6B35"/>
                </ns1:solidFill>
              </ns1:defRPr>
            </ns1:pPr>
            <ns1:r>
              <ns1:rPr sz="1050" b="1">
                <ns1:solidFill>
                  <ns1:srgbClr val="2E6B35"/>
                </ns1:solidFill>
              </ns1:rPr>
              <ns1:t>4 · İNCELE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251738D7-87B7-4551-A463-4C739A3859E4}"/>
              </ns1:ext>
            </ns1:extLst>
          </ns0:cNvPr>
          <ns0:cNvSpPr>
            <ns1:spLocks noGrp="1"/>
          </ns0:cNvSpPr>
          <ns0:nvPr/>
        </ns0:nvSpPr>
        <ns0:spPr>
          <ns1:xfrm>
            <ns1:off x="7639050" y="2647950"/>
            <ns1:ext cx="1485900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350" b="1">
                <ns1:solidFill>
                  <ns1:srgbClr val="17251B"/>
                </ns1:solidFill>
              </ns1:defRPr>
            </ns1:pPr>
            <ns1:r>
              <ns1:rPr sz="1350" b="1">
                <ns1:solidFill>
                  <ns1:srgbClr val="17251B"/>
                </ns1:solidFill>
              </ns1:rPr>
              <ns1:t>Açıklama, rıza</ns1:t>
            </ns1:r>
          </ns1:p>
          <ns1:p>
            <ns1:pPr algn="l">
              <ns1:defRPr sz="1350" b="1">
                <ns1:solidFill>
                  <ns1:srgbClr val="17251B"/>
                </ns1:solidFill>
              </ns1:defRPr>
            </ns1:pPr>
            <ns1:r>
              <ns1:rPr sz="1350" b="1">
                <ns1:solidFill>
                  <ns1:srgbClr val="17251B"/>
                </ns1:solidFill>
              </ns1:rPr>
              <ns1:t>ve kitle anlık görüntüsü</ns1:t>
            </ns1:r>
          </ns1:p>
        </ns0:txBody>
      </ns0:sp>
      <ns0:sp>
        <ns0:nvSpPr>
          <ns0:cNvPr id="20" name="workflow-4">
            <ns1:extLst>
              <ns1:ext uri="{FF2B5EF4-FFF2-40B4-BE49-F238E27FC236}">
                <ns2:creationId id="{55EBCAFE-BB3F-4D2E-A95C-D2F97AB069C0}"/>
              </ns1:ext>
            </ns1:extLst>
          </ns0:cNvPr>
          <ns0:cNvSpPr>
            <ns1:spLocks noGrp="1"/>
          </ns0:cNvSpPr>
          <ns0:nvPr/>
        </ns0:nvSpPr>
        <ns0:spPr>
          <ns1:xfrm>
            <ns1:off x="9734550" y="1952625"/>
            <ns1:ext cx="1866900" cy="1809750"/>
          </ns1:xfrm>
          <ns1:prstGeom prst="roundRect">
            <ns1:avLst>
              <ns1:gd name="adj" fmla="val 6316"/>
            </ns1:avLst>
          </ns1:prstGeom>
          <ns1:solidFill>
            <ns1:srgbClr val="E8F1E5"/>
          </ns1:solidFill>
          <ns1:ln w="9525">
            <ns1:solidFill>
              <ns1:srgbClr val="2E6B35"/>
            </ns1:solidFill>
            <ns1:prstDash val="solid"/>
          </ns1:ln>
        </ns0:spPr>
      </ns0:sp>
      <ns0:sp>
        <ns0:nvSpPr>
          <ns0:cNvPr id="21" name="">
            <ns1:extLst>
              <ns1:ext uri="{FF2B5EF4-FFF2-40B4-BE49-F238E27FC236}">
                <ns2:creationId id="{11902787-DDB3-4FAC-8AEB-2846DF462DC6}"/>
              </ns1:ext>
            </ns1:extLst>
          </ns0:cNvPr>
          <ns0:cNvSpPr>
            <ns1:spLocks noGrp="1"/>
          </ns0:cNvSpPr>
          <ns0:nvPr/>
        </ns0:nvSpPr>
        <ns0:spPr>
          <ns1:xfrm>
            <ns1:off x="9925050" y="2209800"/>
            <ns1:ext cx="14859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1">
                <ns1:solidFill>
                  <ns1:srgbClr val="2E6B35"/>
                </ns1:solidFill>
              </ns1:defRPr>
            </ns1:pPr>
            <ns1:r>
              <ns1:rPr sz="1050" b="1">
                <ns1:solidFill>
                  <ns1:srgbClr val="2E6B35"/>
                </ns1:solidFill>
              </ns1:rPr>
              <ns1:t>5 · UYGULA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4ACECF6D-56CE-422E-8630-6E5EB3712D34}"/>
              </ns1:ext>
            </ns1:extLst>
          </ns0:cNvPr>
          <ns0:cNvSpPr>
            <ns1:spLocks noGrp="1"/>
          </ns0:cNvSpPr>
          <ns0:nvPr/>
        </ns0:nvSpPr>
        <ns0:spPr>
          <ns1:xfrm>
            <ns1:off x="9925050" y="2647950"/>
            <ns1:ext cx="1485900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350" b="1">
                <ns1:solidFill>
                  <ns1:srgbClr val="17251B"/>
                </ns1:solidFill>
              </ns1:defRPr>
            </ns1:pPr>
            <ns1:r>
              <ns1:rPr sz="1350" b="1">
                <ns1:solidFill>
                  <ns1:srgbClr val="17251B"/>
                </ns1:solidFill>
              </ns1:rPr>
              <ns1:t>Onay zorunlu</ns1:t>
            </ns1:r>
          </ns1:p>
          <ns1:p>
            <ns1:pPr algn="l">
              <ns1:defRPr sz="1350" b="1">
                <ns1:solidFill>
                  <ns1:srgbClr val="17251B"/>
                </ns1:solidFill>
              </ns1:defRPr>
            </ns1:pPr>
            <ns1:r>
              <ns1:rPr sz="1350" b="1">
                <ns1:solidFill>
                  <ns1:srgbClr val="17251B"/>
                </ns1:solidFill>
              </ns1:rPr>
              <ns1:t>acil durdurma açık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04F377DC-59D8-439B-A83B-CDE5E2C80C8D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267200"/>
            <ns1:ext cx="10972800" cy="1238250"/>
          </ns1:xfrm>
          <ns1:prstGeom prst="rect">
            <ns1:avLst/>
          </ns1:prstGeom>
          <ns1:solidFill>
            <ns1:srgbClr val="103723"/>
          </ns1:solidFill>
          <ns1:ln w="0">
            <ns1:solidFill>
              <ns1:srgbClr val="103723"/>
            </ns1:solidFill>
            <ns1:prstDash val="solid"/>
          </ns1:ln>
        </ns0:spPr>
      </ns0:sp>
      <ns0:sp>
        <ns0:nvSpPr>
          <ns0:cNvPr id="24" name="">
            <ns1:extLst>
              <ns1:ext uri="{FF2B5EF4-FFF2-40B4-BE49-F238E27FC236}">
                <ns2:creationId id="{3B04A4D5-F787-46C7-BDBE-C2D459889731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4505325"/>
            <ns1:ext cx="314325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725" b="1">
                <ns1:solidFill>
                  <ns1:srgbClr val="FFFFFF"/>
                </ns1:solidFill>
              </ns1:defRPr>
            </ns1:pPr>
            <ns1:r>
              <ns1:rPr sz="1725" b="1">
                <ns1:solidFill>
                  <ns1:srgbClr val="FFFFFF"/>
                </ns1:solidFill>
              </ns1:rPr>
              <ns1:t>Her zaman geçerli denetimler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490F9291-7485-4010-A8E0-591045D3A8E7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4972050"/>
            <ns1:ext cx="97155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500" b="0">
                <ns1:solidFill>
                  <ns1:srgbClr val="A8CC8B"/>
                </ns1:solidFill>
              </ns1:defRPr>
            </ns1:pPr>
            <ns1:r>
              <ns1:rPr sz="1500" b="0">
                <ns1:solidFill>
                  <ns1:srgbClr val="A8CC8B"/>
                </ns1:solidFill>
              </ns1:rPr>
              <ns1:t>Kiracı kapsamı · sunucu RBAC · sağlama toplamı · rıza · onay · denetim</ns1:t>
            </ns1:r>
          </ns1:p>
        </ns0:txBody>
      </ns0:sp>
      <ns0:sp>
        <ns0:nvSpPr>
          <ns0:cNvPr id="26" name="source-footer">
            <ns1:extLst>
              <ns1:ext uri="{FF2B5EF4-FFF2-40B4-BE49-F238E27FC236}">
                <ns2:creationId id="{2D6EF891-EC03-4A4E-87E9-1C2A325BEAC7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67475"/>
            <ns1:ext cx="9906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750" b="0">
                <ns1:solidFill>
                  <ns1:srgbClr val="5C6A60"/>
                </ns1:solidFill>
              </ns1:defRPr>
            </ns1:pPr>
            <ns1:r>
              <ns1:rPr sz="750" b="0">
                <ns1:solidFill>
                  <ns1:srgbClr val="5C6A60"/>
                </ns1:solidFill>
              </ns1:rPr>
              <ns1:t>Yerelde uygulandı; canlı sağlayıcı yürütmesi kapalıdır.</ns1:t>
            </ns1:r>
          </ns1:p>
        </ns0:txBody>
      </ns0:sp>
      <ns0:sp>
        <ns0:nvSpPr>
          <ns0:cNvPr id="27" name="ai-footer">
            <ns1:extLst>
              <ns1:ext uri="{FF2B5EF4-FFF2-40B4-BE49-F238E27FC236}">
                <ns2:creationId id="{9EC2FA16-B604-4AC7-A3DE-FE3BCB55B9DD}"/>
              </ns1:ext>
            </ns1:extLst>
          </ns0:cNvPr>
          <ns0:cNvSpPr>
            <ns1:spLocks noGrp="1"/>
          </ns0:cNvSpPr>
          <ns0:nvPr/>
        </ns0:nvSpPr>
        <ns0:spPr>
          <ns1:xfrm>
            <ns1:off x="8763000" y="6467475"/>
            <ns1:ext cx="28194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675" b="0">
                <ns1:solidFill>
                  <ns1:srgbClr val="5C6A60"/>
                </ns1:solidFill>
              </ns1:defRPr>
            </ns1:pPr>
            <ns1:r>
              <ns1:rPr sz="675" b="0">
                <ns1:solidFill>
                  <ns1:srgbClr val="5C6A60"/>
                </ns1:solidFill>
              </ns1:rPr>
              <ns1:t>Yapay zekâ desteği açıklanmıştır · İnsan incelemesi gereklidir</ns1:t>
            </ns1:r>
          </ns1:p>
        </ns0:txBody>
      </ns0:sp>
    </ns0:spTree>
    <ns0:extLst>
      <ns0:ext uri="{BB962C8B-B14F-4D97-AF65-F5344CB8AC3E}">
        <ns3:creationId val="526998330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kicker-4">
            <ns1:extLst>
              <ns1:ext uri="{FF2B5EF4-FFF2-40B4-BE49-F238E27FC236}">
                <ns2:creationId id="{1F60417F-25B3-488F-BC0C-298BB6122C3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61950"/>
            <ns1:ext cx="7239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975" b="1">
                <ns1:solidFill>
                  <ns1:srgbClr val="2E6B35"/>
                </ns1:solidFill>
              </ns1:defRPr>
            </ns1:pPr>
            <ns1:r>
              <ns1:rPr sz="975" b="1">
                <ns1:solidFill>
                  <ns1:srgbClr val="2E6B35"/>
                </ns1:solidFill>
              </ns1:rPr>
              <ns1:t>VERİ VE HEDEF</ns1:t>
            </ns1:r>
          </ns1:p>
        </ns0:txBody>
      </ns0:sp>
      <ns0:sp>
        <ns0:nvSpPr>
          <ns0:cNvPr id="2" name="title-4">
            <ns1:extLst>
              <ns1:ext uri="{FF2B5EF4-FFF2-40B4-BE49-F238E27FC236}">
                <ns2:creationId id="{502F63F4-551D-4FCA-85AE-B502E557FFC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85800"/>
            <ns1:ext cx="10572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700" b="1">
                <ns1:solidFill>
                  <ns1:srgbClr val="17251B"/>
                </ns1:solidFill>
              </ns1:defRPr>
            </ns1:pPr>
            <ns1:r>
              <ns1:rPr sz="2700" b="1">
                <ns1:solidFill>
                  <ns1:srgbClr val="17251B"/>
                </ns1:solidFill>
              </ns1:rPr>
              <ns1:t>Deney, rastgele bölme yerine zamanı koruma sınırı yapar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F22522F9-9A25-4A5D-A1E8-C5563D326ADF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419100"/>
            <ns1:ext cx="3429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900" b="1">
                <ns1:solidFill>
                  <ns1:srgbClr val="5C6A60"/>
                </ns1:solidFill>
              </ns1:defRPr>
            </ns1:pPr>
            <ns1:r>
              <ns1:rPr sz="900" b="1">
                <ns1:solidFill>
                  <ns1:srgbClr val="5C6A60"/>
                </ns1:solidFill>
              </ns1:rPr>
              <ns1:t>04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0AA4BC09-D90A-4B72-BF2A-7F3F60FD3A37}"/>
              </ns1:ext>
            </ns1:extLst>
          </ns0:cNvPr>
          <ns0:cNvSpPr>
            <ns1:spLocks noGrp="1"/>
          </ns0:cNvSpPr>
          <ns0:nvPr/>
        </ns0:nvSpPr>
        <ns0:spPr>
          <ns1:xfrm>
            <ns1:off x="647700" y="1666875"/>
            <ns1:ext cx="38100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025" b="1">
                <ns1:solidFill>
                  <ns1:srgbClr val="17251B"/>
                </ns1:solidFill>
              </ns1:defRPr>
            </ns1:pPr>
            <ns1:r>
              <ns1:rPr sz="2025" b="1">
                <ns1:solidFill>
                  <ns1:srgbClr val="17251B"/>
                </ns1:solidFill>
              </ns1:rPr>
              <ns1:t>UCI Online Retail II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A08529CF-AE1B-42BC-84E0-2126BA3A9455}"/>
              </ns1:ext>
            </ns1:extLst>
          </ns0:cNvPr>
          <ns0:cNvSpPr>
            <ns1:spLocks noGrp="1"/>
          </ns0:cNvSpPr>
          <ns0:nvPr/>
        </ns0:nvSpPr>
        <ns0:spPr>
          <ns1:xfrm>
            <ns1:off x="647700" y="2095500"/>
            <ns1:ext cx="4000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125" b="1">
                <ns1:solidFill>
                  <ns1:srgbClr val="2E6B35"/>
                </ns1:solidFill>
              </ns1:defRPr>
            </ns1:pPr>
            <ns1:r>
              <ns1:rPr sz="1125" b="1">
                <ns1:solidFill>
                  <ns1:srgbClr val="2E6B35"/>
                </ns1:solidFill>
              </ns1:rPr>
              <ns1:t>CC BY 4.0 · DOI 10.24432/C5CG6D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58F5AC6C-3C28-4A3F-B110-FF7D07670825}"/>
              </ns1:ext>
            </ns1:extLst>
          </ns0:cNvPr>
          <ns0:cNvSpPr>
            <ns1:spLocks noGrp="1"/>
          </ns0:cNvSpPr>
          <ns0:nvPr/>
        </ns0:nvSpPr>
        <ns0:spPr>
          <ns1:xfrm>
            <ns1:off x="647700" y="2724150"/>
            <ns1:ext cx="17145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100" b="1">
                <ns1:solidFill>
                  <ns1:srgbClr val="2E6B35"/>
                </ns1:solidFill>
              </ns1:defRPr>
            </ns1:pPr>
            <ns1:r>
              <ns1:rPr sz="2100" b="1">
                <ns1:solidFill>
                  <ns1:srgbClr val="2E6B35"/>
                </ns1:solidFill>
              </ns1:rPr>
              <ns1:t>1,067,371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1B28C719-5C15-4436-BE7F-EBA727DC6C4C}"/>
              </ns1:ext>
            </ns1:extLst>
          </ns0:cNvPr>
          <ns0:cNvSpPr>
            <ns1:spLocks noGrp="1"/>
          </ns0:cNvSpPr>
          <ns0:nvPr/>
        </ns0:nvSpPr>
        <ns0:spPr>
          <ns1:xfrm>
            <ns1:off x="647700" y="3181350"/>
            <ns1:ext cx="16192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125" b="0">
                <ns1:solidFill>
                  <ns1:srgbClr val="5C6A60"/>
                </ns1:solidFill>
              </ns1:defRPr>
            </ns1:pPr>
            <ns1:r>
              <ns1:rPr sz="1125" b="0">
                <ns1:solidFill>
                  <ns1:srgbClr val="5C6A60"/>
                </ns1:solidFill>
              </ns1:rPr>
              <ns1:t>işlem satırı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FA40002C-52A6-4D87-9794-FBC7D72C7F7C}"/>
              </ns1:ext>
            </ns1:extLst>
          </ns0:cNvPr>
          <ns0:cNvSpPr>
            <ns1:spLocks noGrp="1"/>
          </ns0:cNvSpPr>
          <ns0:nvPr/>
        </ns0:nvSpPr>
        <ns0:spPr>
          <ns1:xfrm>
            <ns1:off x="2514600" y="2724150"/>
            <ns1:ext cx="17145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100" b="1">
                <ns1:solidFill>
                  <ns1:srgbClr val="2E6B35"/>
                </ns1:solidFill>
              </ns1:defRPr>
            </ns1:pPr>
            <ns1:r>
              <ns1:rPr sz="2100" b="1">
                <ns1:solidFill>
                  <ns1:srgbClr val="2E6B35"/>
                </ns1:solidFill>
              </ns1:rPr>
              <ns1:t>5,942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B926E9F4-4B23-4D62-8127-9D3FF74C5ACF}"/>
              </ns1:ext>
            </ns1:extLst>
          </ns0:cNvPr>
          <ns0:cNvSpPr>
            <ns1:spLocks noGrp="1"/>
          </ns0:cNvSpPr>
          <ns0:nvPr/>
        </ns0:nvSpPr>
        <ns0:spPr>
          <ns1:xfrm>
            <ns1:off x="2514600" y="3181350"/>
            <ns1:ext cx="16192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125" b="0">
                <ns1:solidFill>
                  <ns1:srgbClr val="5C6A60"/>
                </ns1:solidFill>
              </ns1:defRPr>
            </ns1:pPr>
            <ns1:r>
              <ns1:rPr sz="1125" b="0">
                <ns1:solidFill>
                  <ns1:srgbClr val="5C6A60"/>
                </ns1:solidFill>
              </ns1:rPr>
              <ns1:t>tanımlı müşteri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9AA90DCB-1535-44A3-83B0-AE2094E4904D}"/>
              </ns1:ext>
            </ns1:extLst>
          </ns0:cNvPr>
          <ns0:cNvSpPr>
            <ns1:spLocks noGrp="1"/>
          </ns0:cNvSpPr>
          <ns0:nvPr/>
        </ns0:nvSpPr>
        <ns0:spPr>
          <ns1:xfrm>
            <ns1:off x="4381500" y="2724150"/>
            <ns1:ext cx="17145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100" b="1">
                <ns1:solidFill>
                  <ns1:srgbClr val="2E6B35"/>
                </ns1:solidFill>
              </ns1:defRPr>
            </ns1:pPr>
            <ns1:r>
              <ns1:rPr sz="2100" b="1">
                <ns1:solidFill>
                  <ns1:srgbClr val="2E6B35"/>
                </ns1:solidFill>
              </ns1:rPr>
              <ns1:t>90 gün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A60861C5-1CB6-4124-A644-A86250B31A6A}"/>
              </ns1:ext>
            </ns1:extLst>
          </ns0:cNvPr>
          <ns0:cNvSpPr>
            <ns1:spLocks noGrp="1"/>
          </ns0:cNvSpPr>
          <ns0:nvPr/>
        </ns0:nvSpPr>
        <ns0:spPr>
          <ns1:xfrm>
            <ns1:off x="4381500" y="3181350"/>
            <ns1:ext cx="16192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125" b="0">
                <ns1:solidFill>
                  <ns1:srgbClr val="5C6A60"/>
                </ns1:solidFill>
              </ns1:defRPr>
            </ns1:pPr>
            <ns1:r>
              <ns1:rPr sz="1125" b="0">
                <ns1:solidFill>
                  <ns1:srgbClr val="5C6A60"/>
                </ns1:solidFill>
              </ns1:rPr>
              <ns1:t>gelecek hareketsizlik penceresi</ns1:t>
            </ns1:r>
          </ns1:p>
        </ns0:txBody>
      </ns0:sp>
      <ns0:sp>
        <ns0:nvSpPr>
          <ns0:cNvPr id="12" name="timeline">
            <ns1:extLst>
              <ns1:ext uri="{FF2B5EF4-FFF2-40B4-BE49-F238E27FC236}">
                <ns2:creationId id="{D136EBB3-E05A-4739-910C-D441E43EFD8E}"/>
              </ns1:ext>
            </ns1:extLst>
          </ns0:cNvPr>
          <ns0:cNvSpPr>
            <ns1:spLocks noGrp="1"/>
          </ns0:cNvSpPr>
          <ns0:nvPr/>
        </ns0:nvSpPr>
        <ns0:spPr>
          <ns1:xfrm>
            <ns1:off x="6496050" y="1714500"/>
            <ns1:ext cx="4762500" cy="3143250"/>
          </ns1:xfrm>
          <ns1:prstGeom prst="roundRect">
            <ns1:avLst>
              <ns1:gd name="adj" fmla="val 3636"/>
            </ns1:avLst>
          </ns1:prstGeom>
          <ns1:solidFill>
            <ns1:srgbClr val="F0F3ED"/>
          </ns1:solidFill>
          <ns1:ln w="9525">
            <ns1:solidFill>
              <ns1:srgbClr val="F0F3ED"/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EB8E7B05-4F25-4D61-80FC-970BA90C6100}"/>
              </ns1:ext>
            </ns1:extLst>
          </ns0:cNvPr>
          <ns0:cNvSpPr>
            <ns1:spLocks noGrp="1"/>
          </ns0:cNvSpPr>
          <ns0:nvPr/>
        </ns0:nvSpPr>
        <ns0:spPr>
          <ns1:xfrm>
            <ns1:off x="6819900" y="2028825"/>
            <ns1:ext cx="112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975" b="1">
                <ns1:solidFill>
                  <ns1:srgbClr val="2E6B35"/>
                </ns1:solidFill>
              </ns1:defRPr>
            </ns1:pPr>
            <ns1:r>
              <ns1:rPr sz="975" b="1">
                <ns1:solidFill>
                  <ns1:srgbClr val="2E6B35"/>
                </ns1:solidFill>
              </ns1:rPr>
              <ns1:t>EĞİTİM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3E02BC63-2983-4962-90F4-FD70D119C259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2028825"/>
            <ns1:ext cx="1333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1">
                <ns1:solidFill>
                  <ns1:srgbClr val="17251B"/>
                </ns1:solidFill>
              </ns1:defRPr>
            </ns1:pPr>
            <ns1:r>
              <ns1:rPr sz="1200" b="1">
                <ns1:solidFill>
                  <ns1:srgbClr val="17251B"/>
                </ns1:solidFill>
              </ns1:rPr>
              <ns1:t>7 kesim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F408B076-6B6E-42C9-B990-4468B87017E2}"/>
              </ns1:ext>
            </ns1:extLst>
          </ns0:cNvPr>
          <ns0:cNvSpPr>
            <ns1:spLocks noGrp="1"/>
          </ns0:cNvSpPr>
          <ns0:nvPr/>
        </ns0:nvSpPr>
        <ns0:spPr>
          <ns1:xfrm>
            <ns1:off x="9667875" y="2028825"/>
            <ns1:ext cx="11906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125" b="0">
                <ns1:solidFill>
                  <ns1:srgbClr val="5C6A60"/>
                </ns1:solidFill>
              </ns1:defRPr>
            </ns1:pPr>
            <ns1:r>
              <ns1:rPr sz="1125" b="0">
                <ns1:solidFill>
                  <ns1:srgbClr val="5C6A60"/>
                </ns1:solidFill>
              </ns1:rPr>
              <ns1:t>20.677 satır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A9320526-EBC0-44BF-926B-5FAB4EB12C30}"/>
              </ns1:ext>
            </ns1:extLst>
          </ns0:cNvPr>
          <ns0:cNvSpPr>
            <ns1:spLocks noGrp="1"/>
          </ns0:cNvSpPr>
          <ns0:nvPr/>
        </ns0:nvSpPr>
        <ns0:spPr>
          <ns1:xfrm>
            <ns1:off x="6819900" y="2667000"/>
            <ns1:ext cx="112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975" b="1">
                <ns1:solidFill>
                  <ns1:srgbClr val="2E6B35"/>
                </ns1:solidFill>
              </ns1:defRPr>
            </ns1:pPr>
            <ns1:r>
              <ns1:rPr sz="975" b="1">
                <ns1:solidFill>
                  <ns1:srgbClr val="2E6B35"/>
                </ns1:solidFill>
              </ns1:rPr>
              <ns1:t>DOĞRULAMA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AD48CE17-60DD-40F1-A53D-AEBE8C9AA4C4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2667000"/>
            <ns1:ext cx="1333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1">
                <ns1:solidFill>
                  <ns1:srgbClr val="17251B"/>
                </ns1:solidFill>
              </ns1:defRPr>
            </ns1:pPr>
            <ns1:r>
              <ns1:rPr sz="1200" b="1">
                <ns1:solidFill>
                  <ns1:srgbClr val="17251B"/>
                </ns1:solidFill>
              </ns1:rPr>
              <ns1:t>2011-03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9F9D92DA-25B0-49A5-9D6B-60FE3D802EEA}"/>
              </ns1:ext>
            </ns1:extLst>
          </ns0:cNvPr>
          <ns0:cNvSpPr>
            <ns1:spLocks noGrp="1"/>
          </ns0:cNvSpPr>
          <ns0:nvPr/>
        </ns0:nvSpPr>
        <ns0:spPr>
          <ns1:xfrm>
            <ns1:off x="9667875" y="2667000"/>
            <ns1:ext cx="11906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125" b="0">
                <ns1:solidFill>
                  <ns1:srgbClr val="5C6A60"/>
                </ns1:solidFill>
              </ns1:defRPr>
            </ns1:pPr>
            <ns1:r>
              <ns1:rPr sz="1125" b="0">
                <ns1:solidFill>
                  <ns1:srgbClr val="5C6A60"/>
                </ns1:solidFill>
              </ns1:rPr>
              <ns1:t>3.349 satır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A4E8512C-61B7-4B5D-A7BF-862895DDE312}"/>
              </ns1:ext>
            </ns1:extLst>
          </ns0:cNvPr>
          <ns0:cNvSpPr>
            <ns1:spLocks noGrp="1"/>
          </ns0:cNvSpPr>
          <ns0:nvPr/>
        </ns0:nvSpPr>
        <ns0:spPr>
          <ns1:xfrm>
            <ns1:off x="6819900" y="3305175"/>
            <ns1:ext cx="112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975" b="1">
                <ns1:solidFill>
                  <ns1:srgbClr val="2E6B35"/>
                </ns1:solidFill>
              </ns1:defRPr>
            </ns1:pPr>
            <ns1:r>
              <ns1:rPr sz="975" b="1">
                <ns1:solidFill>
                  <ns1:srgbClr val="2E6B35"/>
                </ns1:solidFill>
              </ns1:rPr>
              <ns1:t>KALİBRASYON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EC32671B-BE8A-4574-9727-73E96E7603EE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3305175"/>
            <ns1:ext cx="1333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1">
                <ns1:solidFill>
                  <ns1:srgbClr val="17251B"/>
                </ns1:solidFill>
              </ns1:defRPr>
            </ns1:pPr>
            <ns1:r>
              <ns1:rPr sz="1200" b="1">
                <ns1:solidFill>
                  <ns1:srgbClr val="17251B"/>
                </ns1:solidFill>
              </ns1:rPr>
              <ns1:t>2011-06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48D5CBF6-75CF-4F90-92D8-8213D1369522}"/>
              </ns1:ext>
            </ns1:extLst>
          </ns0:cNvPr>
          <ns0:cNvSpPr>
            <ns1:spLocks noGrp="1"/>
          </ns0:cNvSpPr>
          <ns0:nvPr/>
        </ns0:nvSpPr>
        <ns0:spPr>
          <ns1:xfrm>
            <ns1:off x="9667875" y="3305175"/>
            <ns1:ext cx="11906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125" b="0">
                <ns1:solidFill>
                  <ns1:srgbClr val="5C6A60"/>
                </ns1:solidFill>
              </ns1:defRPr>
            </ns1:pPr>
            <ns1:r>
              <ns1:rPr sz="1125" b="0">
                <ns1:solidFill>
                  <ns1:srgbClr val="5C6A60"/>
                </ns1:solidFill>
              </ns1:rPr>
              <ns1:t>2.659 satır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28234019-E1D7-4093-9685-B247A4255274}"/>
              </ns1:ext>
            </ns1:extLst>
          </ns0:cNvPr>
          <ns0:cNvSpPr>
            <ns1:spLocks noGrp="1"/>
          </ns0:cNvSpPr>
          <ns0:nvPr/>
        </ns0:nvSpPr>
        <ns0:spPr>
          <ns1:xfrm>
            <ns1:off x="6819900" y="3943350"/>
            <ns1:ext cx="112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975" b="1">
                <ns1:solidFill>
                  <ns1:srgbClr val="2E6B35"/>
                </ns1:solidFill>
              </ns1:defRPr>
            </ns1:pPr>
            <ns1:r>
              <ns1:rPr sz="975" b="1">
                <ns1:solidFill>
                  <ns1:srgbClr val="2E6B35"/>
                </ns1:solidFill>
              </ns1:rPr>
              <ns1:t>TEST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A7EECD81-B58A-4F2E-9ABE-F58AA47C4168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3943350"/>
            <ns1:ext cx="1333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1">
                <ns1:solidFill>
                  <ns1:srgbClr val="17251B"/>
                </ns1:solidFill>
              </ns1:defRPr>
            </ns1:pPr>
            <ns1:r>
              <ns1:rPr sz="1200" b="1">
                <ns1:solidFill>
                  <ns1:srgbClr val="17251B"/>
                </ns1:solidFill>
              </ns1:rPr>
              <ns1:t>2011-09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8D6BE7F4-A285-43A6-B525-E697E57296D8}"/>
              </ns1:ext>
            </ns1:extLst>
          </ns0:cNvPr>
          <ns0:cNvSpPr>
            <ns1:spLocks noGrp="1"/>
          </ns0:cNvSpPr>
          <ns0:nvPr/>
        </ns0:nvSpPr>
        <ns0:spPr>
          <ns1:xfrm>
            <ns1:off x="9667875" y="3943350"/>
            <ns1:ext cx="11906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125" b="0">
                <ns1:solidFill>
                  <ns1:srgbClr val="5C6A60"/>
                </ns1:solidFill>
              </ns1:defRPr>
            </ns1:pPr>
            <ns1:r>
              <ns1:rPr sz="1125" b="0">
                <ns1:solidFill>
                  <ns1:srgbClr val="5C6A60"/>
                </ns1:solidFill>
              </ns1:rPr>
              <ns1:t>2.772 satır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481B74FB-5382-41A5-81E7-B6833E7A1742}"/>
              </ns1:ext>
            </ns1:extLst>
          </ns0:cNvPr>
          <ns0:cNvSpPr>
            <ns1:spLocks noGrp="1"/>
          </ns0:cNvSpPr>
          <ns0:nvPr/>
        </ns0:nvSpPr>
        <ns0:spPr>
          <ns1:xfrm>
            <ns1:off x="6819900" y="4533900"/>
            <ns1:ext cx="4048125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125" b="1">
                <ns1:solidFill>
                  <ns1:srgbClr val="2E6B35"/>
                </ns1:solidFill>
              </ns1:defRPr>
            </ns1:pPr>
            <ns1:r>
              <ns1:rPr sz="1125" b="1">
                <ns1:solidFill>
                  <ns1:srgbClr val="2E6B35"/>
                </ns1:solidFill>
              </ns1:rPr>
              <ns1:t>Özellikler yalnız kesim öncesi olayları kullanır; her etiket penceresi tam gözlenir.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8EC5D38B-C4CF-4687-B48F-BB2FDE5E4F4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314950"/>
            <ns1:ext cx="10648950" cy="628650"/>
          </ns1:xfrm>
          <ns1:prstGeom prst="rect">
            <ns1:avLst/>
          </ns1:prstGeom>
          <ns1:solidFill>
            <ns1:srgbClr val="103723"/>
          </ns1:solidFill>
          <ns1:ln w="0">
            <ns1:solidFill>
              <ns1:srgbClr val="103723"/>
            </ns1:solidFill>
            <ns1:prstDash val="solid"/>
          </ns1:ln>
        </ns0:spPr>
      </ns0:sp>
      <ns0:sp>
        <ns0:nvSpPr>
          <ns0:cNvPr id="27" name="">
            <ns1:extLst>
              <ns1:ext uri="{FF2B5EF4-FFF2-40B4-BE49-F238E27FC236}">
                <ns2:creationId id="{745AAF4E-05D9-4257-A6A3-8B82EBE8DB1B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5505450"/>
            <ns1:ext cx="100012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FFFFFF"/>
                </ns1:solidFill>
              </ns1:defRPr>
            </ns1:pPr>
            <ns1:r>
              <ns1:rPr sz="1425" b="1">
                <ns1:solidFill>
                  <ns1:srgbClr val="FFFFFF"/>
                </ns1:solidFill>
              </ns1:rPr>
              <ns1:t>Gelecek hareketsizliği operasyonel vekildir; gerçek kayıp veya kampanya nedenselliği değildir.</ns1:t>
            </ns1:r>
          </ns1:p>
        </ns0:txBody>
      </ns0:sp>
      <ns0:sp>
        <ns0:nvSpPr>
          <ns0:cNvPr id="28" name="source-footer">
            <ns1:extLst>
              <ns1:ext uri="{FF2B5EF4-FFF2-40B4-BE49-F238E27FC236}">
                <ns2:creationId id="{45A08A34-A891-4CF2-941E-956213322490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67475"/>
            <ns1:ext cx="9906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750" b="0">
                <ns1:solidFill>
                  <ns1:srgbClr val="5C6A60"/>
                </ns1:solidFill>
              </ns1:defRPr>
            </ns1:pPr>
            <ns1:r>
              <ns1:rPr sz="750" b="0">
                <ns1:solidFill>
                  <ns1:srgbClr val="5C6A60"/>
                </ns1:solidFill>
              </ns1:rPr>
              <ns1:t>UCI Online Retail II profili ve zamansal veri bölümü eserleri.</ns1:t>
            </ns1:r>
          </ns1:p>
        </ns0:txBody>
      </ns0:sp>
      <ns0:sp>
        <ns0:nvSpPr>
          <ns0:cNvPr id="29" name="ai-footer">
            <ns1:extLst>
              <ns1:ext uri="{FF2B5EF4-FFF2-40B4-BE49-F238E27FC236}">
                <ns2:creationId id="{938857ED-48E8-4ABD-9AF4-36B33F7D527B}"/>
              </ns1:ext>
            </ns1:extLst>
          </ns0:cNvPr>
          <ns0:cNvSpPr>
            <ns1:spLocks noGrp="1"/>
          </ns0:cNvSpPr>
          <ns0:nvPr/>
        </ns0:nvSpPr>
        <ns0:spPr>
          <ns1:xfrm>
            <ns1:off x="8763000" y="6467475"/>
            <ns1:ext cx="28194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675" b="0">
                <ns1:solidFill>
                  <ns1:srgbClr val="5C6A60"/>
                </ns1:solidFill>
              </ns1:defRPr>
            </ns1:pPr>
            <ns1:r>
              <ns1:rPr sz="675" b="0">
                <ns1:solidFill>
                  <ns1:srgbClr val="5C6A60"/>
                </ns1:solidFill>
              </ns1:rPr>
              <ns1:t>Yapay zekâ desteği açıklanmıştır · İnsan incelemesi gereklidir</ns1:t>
            </ns1:r>
          </ns1:p>
        </ns0:txBody>
      </ns0:sp>
    </ns0:spTree>
    <ns0:extLst>
      <ns0:ext uri="{BB962C8B-B14F-4D97-AF65-F5344CB8AC3E}">
        <ns3:creationId val="1734855027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kicker-5">
            <ns1:extLst>
              <ns1:ext uri="{FF2B5EF4-FFF2-40B4-BE49-F238E27FC236}">
                <ns2:creationId id="{8BE4EFFA-8169-4EE5-844E-E9EE1DDC3D2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61950"/>
            <ns1:ext cx="7239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975" b="1">
                <ns1:solidFill>
                  <ns1:srgbClr val="2E6B35"/>
                </ns1:solidFill>
              </ns1:defRPr>
            </ns1:pPr>
            <ns1:r>
              <ns1:rPr sz="975" b="1">
                <ns1:solidFill>
                  <ns1:srgbClr val="2E6B35"/>
                </ns1:solidFill>
              </ns1:rPr>
              <ns1:t>MODEL KEŞFİ</ns1:t>
            </ns1:r>
          </ns1:p>
        </ns0:txBody>
      </ns0:sp>
      <ns0:sp>
        <ns0:nvSpPr>
          <ns0:cNvPr id="2" name="title-5">
            <ns1:extLst>
              <ns1:ext uri="{FF2B5EF4-FFF2-40B4-BE49-F238E27FC236}">
                <ns2:creationId id="{F8C526F7-AABB-4E4F-9BC1-5C58ABC3F05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85800"/>
            <ns1:ext cx="10572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700" b="1">
                <ns1:solidFill>
                  <ns1:srgbClr val="17251B"/>
                </ns1:solidFill>
              </ns1:defRPr>
            </ns1:pPr>
            <ns1:r>
              <ns1:rPr sz="2700" b="1">
                <ns1:solidFill>
                  <ns1:srgbClr val="17251B"/>
                </ns1:solidFill>
              </ns1:rPr>
              <ns1:t>Kanıt, kavramda öngörülenden daha yalın modeli seçti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614AF93A-F584-46B9-BAC8-EAAFAF2EDFD6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419100"/>
            <ns1:ext cx="3429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900" b="1">
                <ns1:solidFill>
                  <ns1:srgbClr val="5C6A60"/>
                </ns1:solidFill>
              </ns1:defRPr>
            </ns1:pPr>
            <ns1:r>
              <ns1:rPr sz="900" b="1">
                <ns1:solidFill>
                  <ns1:srgbClr val="5C6A60"/>
                </ns1:solidFill>
              </ns1:rPr>
              <ns1:t>05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4B881594-F863-47BC-96E4-BD9FA26FA716}"/>
              </ns1:ext>
            </ns1:extLst>
          </ns0:cNvPr>
          <ns0:cNvSpPr>
            <ns1:spLocks noGrp="1"/>
          </ns0:cNvSpPr>
          <ns0:nvPr/>
        </ns0:nvSpPr>
        <ns0:spPr>
          <ns1:xfrm>
            <ns1:off x="647700" y="1571625"/>
            <ns1:ext cx="2857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17251B"/>
                </ns1:solidFill>
              </ns1:defRPr>
            </ns1:pPr>
            <ns1:r>
              <ns1:rPr sz="1650" b="1">
                <ns1:solidFill>
                  <ns1:srgbClr val="17251B"/>
                </ns1:solidFill>
              </ns1:rPr>
              <ns1:t>Doğrulama PR-AUC</ns1:t>
            </ns1:r>
          </ns1:p>
        </ns0:txBody>
      </ns0:sp>
      <ns0:graphicFrame>
        <ns0:nvGraphicFramePr>
          <ns0:cNvPr id="22" name="Chart"/>
          <ns0:cNvGraphicFramePr/>
          <ns0:nvPr/>
        </ns0:nvGraphicFramePr>
        <ns0:xfrm>
          <ns1:off x="552450" y="1952625"/>
          <ns1:ext cx="6858000" cy="3333750"/>
        </ns0:xfrm>
        <ns1:graphic>
          <ns1:graphicData uri="http://schemas.openxmlformats.org/drawingml/2006/chart">
            <ns3:chart ns4:id="R33b730a185e44ab9"/>
          </ns1:graphicData>
        </ns1:graphic>
      </ns0:graphicFrame>
      <ns0:sp>
        <ns0:nvSpPr>
          <ns0:cNvPr id="6" name="">
            <ns1:extLst>
              <ns1:ext uri="{FF2B5EF4-FFF2-40B4-BE49-F238E27FC236}">
                <ns2:creationId id="{49336F26-ED09-4B1C-90A6-BCD707333EC4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543175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900" b="0">
                <ns1:solidFill>
                  <ns1:srgbClr val="5C6A60"/>
                </ns1:solidFill>
              </ns1:defRPr>
            </ns1:pPr>
            <ns1:r>
              <ns1:rPr sz="900" b="0">
                <ns1:solidFill>
                  <ns1:srgbClr val="5C6A60"/>
                </ns1:solidFill>
              </ns1:rPr>
              <ns1:t>0.805322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7B150D1F-89EF-45AD-A02F-E2788754CB73}"/>
              </ns1:ext>
            </ns1:extLst>
          </ns0:cNvPr>
          <ns0:cNvSpPr>
            <ns1:spLocks noGrp="1"/>
          </ns0:cNvSpPr>
          <ns0:nvPr/>
        </ns0:nvSpPr>
        <ns0:spPr>
          <ns1:xfrm>
            <ns1:off x="2238375" y="2543175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900" b="0">
                <ns1:solidFill>
                  <ns1:srgbClr val="5C6A60"/>
                </ns1:solidFill>
              </ns1:defRPr>
            </ns1:pPr>
            <ns1:r>
              <ns1:rPr sz="900" b="0">
                <ns1:solidFill>
                  <ns1:srgbClr val="5C6A60"/>
                </ns1:solidFill>
              </ns1:rPr>
              <ns1:t>0.805223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153394DD-4089-40B3-B4AA-E6897A900820}"/>
              </ns1:ext>
            </ns1:extLst>
          </ns0:cNvPr>
          <ns0:cNvSpPr>
            <ns1:spLocks noGrp="1"/>
          </ns0:cNvSpPr>
          <ns0:nvPr/>
        </ns0:nvSpPr>
        <ns0:spPr>
          <ns1:xfrm>
            <ns1:off x="3562350" y="2543175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900" b="0">
                <ns1:solidFill>
                  <ns1:srgbClr val="5C6A60"/>
                </ns1:solidFill>
              </ns1:defRPr>
            </ns1:pPr>
            <ns1:r>
              <ns1:rPr sz="900" b="0">
                <ns1:solidFill>
                  <ns1:srgbClr val="5C6A60"/>
                </ns1:solidFill>
              </ns1:rPr>
              <ns1:t>0.803517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6CF62A88-BA49-4AB3-9C7E-07913280E8E3}"/>
              </ns1:ext>
            </ns1:extLst>
          </ns0:cNvPr>
          <ns0:cNvSpPr>
            <ns1:spLocks noGrp="1"/>
          </ns0:cNvSpPr>
          <ns0:nvPr/>
        </ns0:nvSpPr>
        <ns0:spPr>
          <ns1:xfrm>
            <ns1:off x="4886325" y="2790825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900" b="0">
                <ns1:solidFill>
                  <ns1:srgbClr val="5C6A60"/>
                </ns1:solidFill>
              </ns1:defRPr>
            </ns1:pPr>
            <ns1:r>
              <ns1:rPr sz="900" b="0">
                <ns1:solidFill>
                  <ns1:srgbClr val="5C6A60"/>
                </ns1:solidFill>
              </ns1:rPr>
              <ns1:t>0.715529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9620B2F4-43F7-456D-825F-05544E3D9FC8}"/>
              </ns1:ext>
            </ns1:extLst>
          </ns0:cNvPr>
          <ns0:cNvSpPr>
            <ns1:spLocks noGrp="1"/>
          </ns0:cNvSpPr>
          <ns0:nvPr/>
        </ns0:nvSpPr>
        <ns0:spPr>
          <ns1:xfrm>
            <ns1:off x="6210300" y="3086100"/>
            <ns1:ext cx="952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900" b="0">
                <ns1:solidFill>
                  <ns1:srgbClr val="5C6A60"/>
                </ns1:solidFill>
              </ns1:defRPr>
            </ns1:pPr>
            <ns1:r>
              <ns1:rPr sz="900" b="0">
                <ns1:solidFill>
                  <ns1:srgbClr val="5C6A60"/>
                </ns1:solidFill>
              </ns1:rPr>
              <ns1:t>0.577187</ns1:t>
            </ns1:r>
          </ns1:p>
        </ns0:txBody>
      </ns0:sp>
      <ns0:sp>
        <ns0:nvSpPr>
          <ns0:cNvPr id="11" name="winner">
            <ns1:extLst>
              <ns1:ext uri="{FF2B5EF4-FFF2-40B4-BE49-F238E27FC236}">
                <ns2:creationId id="{8AE19281-1CDF-4964-8ED3-B2ED796BC76C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1885950"/>
            <ns1:ext cx="3333750" cy="3286125"/>
          </ns1:xfrm>
          <ns1:prstGeom prst="roundRect">
            <ns1:avLst>
              <ns1:gd name="adj" fmla="val 3478"/>
            </ns1:avLst>
          </ns1:prstGeom>
          <ns1:solidFill>
            <ns1:srgbClr val="F0F3ED"/>
          </ns1:solidFill>
          <ns1:ln w="9525">
            <ns1:solidFill>
              <ns1:srgbClr val="F0F3ED"/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576A6A91-C65C-4BDC-A9E3-F139C15F6601}"/>
              </ns1:ext>
            </ns1:extLst>
          </ns0:cNvPr>
          <ns0:cNvSpPr>
            <ns1:spLocks noGrp="1"/>
          </ns0:cNvSpPr>
          <ns0:nvPr/>
        </ns0:nvSpPr>
        <ns0:spPr>
          <ns1:xfrm>
            <ns1:off x="8286750" y="2266950"/>
            <ns1:ext cx="2667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1">
                <ns1:solidFill>
                  <ns1:srgbClr val="2E6B35"/>
                </ns1:solidFill>
              </ns1:defRPr>
            </ns1:pPr>
            <ns1:r>
              <ns1:rPr sz="1275" b="1">
                <ns1:solidFill>
                  <ns1:srgbClr val="2E6B35"/>
                </ns1:solidFill>
              </ns1:rPr>
              <ns1:t>İyileştirme için seçildi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D6CC8FFC-F813-42A3-9B7A-42EFE94230E7}"/>
              </ns1:ext>
            </ns1:extLst>
          </ns0:cNvPr>
          <ns0:cNvSpPr>
            <ns1:spLocks noGrp="1"/>
          </ns0:cNvSpPr>
          <ns0:nvPr/>
        </ns0:nvSpPr>
        <ns0:spPr>
          <ns1:xfrm>
            <ns1:off x="8286750" y="2724150"/>
            <ns1:ext cx="2667000" cy="857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325" b="1">
                <ns1:solidFill>
                  <ns1:srgbClr val="103723"/>
                </ns1:solidFill>
              </ns1:defRPr>
            </ns1:pPr>
            <ns1:r>
              <ns1:rPr sz="2325" b="1">
                <ns1:solidFill>
                  <ns1:srgbClr val="103723"/>
                </ns1:solidFill>
              </ns1:rPr>
              <ns1:t>Düzenlileştirilmiş</ns1:t>
            </ns1:r>
          </ns1:p>
          <ns1:p>
            <ns1:pPr algn="l">
              <ns1:defRPr sz="2325" b="1">
                <ns1:solidFill>
                  <ns1:srgbClr val="103723"/>
                </ns1:solidFill>
              </ns1:defRPr>
            </ns1:pPr>
            <ns1:r>
              <ns1:rPr sz="2325" b="1">
                <ns1:solidFill>
                  <ns1:srgbClr val="103723"/>
                </ns1:solidFill>
              </ns1:rPr>
              <ns1:t>lojistik regresyon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83484AE1-F654-419C-8625-D2778663E950}"/>
              </ns1:ext>
            </ns1:extLst>
          </ns0:cNvPr>
          <ns0:cNvSpPr>
            <ns1:spLocks noGrp="1"/>
          </ns0:cNvSpPr>
          <ns0:nvPr/>
        </ns0:nvSpPr>
        <ns0:spPr>
          <ns1:xfrm>
            <ns1:off x="8286750" y="3867150"/>
            <ns1:ext cx="2590800" cy="952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0">
                <ns1:solidFill>
                  <ns1:srgbClr val="5C6A60"/>
                </ns1:solidFill>
              </ns1:defRPr>
            </ns1:pPr>
            <ns1:r>
              <ns1:rPr sz="1200" b="0">
                <ns1:solidFill>
                  <ns1:srgbClr val="5C6A60"/>
                </ns1:solidFill>
              </ns1:rPr>
              <ns1:t>C = 0.01 doğrulama PR-AUC'yi 0.812223'e çıkardı. Sigmoid kalibrasyon ve yaklaşık %10 eşik testten önce donduruldu.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B198E387-B634-478B-B9C5-32907F83F79A}"/>
              </ns1:ext>
            </ns1:extLst>
          </ns0:cNvPr>
          <ns0:cNvSpPr>
            <ns1:spLocks noGrp="1"/>
          </ns0:cNvSpPr>
          <ns0:nvPr/>
        </ns0:nvSpPr>
        <ns0:spPr>
          <ns1:xfrm>
            <ns1:off x="647700" y="5600700"/>
            <ns1:ext cx="9525000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2E6B35"/>
                </ns1:solidFill>
              </ns1:defRPr>
            </ns1:pPr>
            <ns1:r>
              <ns1:rPr sz="1425" b="1">
                <ns1:solidFill>
                  <ns1:srgbClr val="2E6B35"/>
                </ns1:solidFill>
              </ns1:rPr>
              <ns1:t>LightGBM yalnız ilk kavramda öngörüldüğü için seçilmedi.</ns1:t>
            </ns1:r>
          </ns1:p>
        </ns0:txBody>
      </ns0:sp>
      <ns0:sp>
        <ns0:nvSpPr>
          <ns0:cNvPr id="16" name="source-footer">
            <ns1:extLst>
              <ns1:ext uri="{FF2B5EF4-FFF2-40B4-BE49-F238E27FC236}">
                <ns2:creationId id="{26308E41-90AE-4D91-ADCE-05987EB7152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67475"/>
            <ns1:ext cx="9906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750" b="0">
                <ns1:solidFill>
                  <ns1:srgbClr val="5C6A60"/>
                </ns1:solidFill>
              </ns1:defRPr>
            </ns1:pPr>
            <ns1:r>
              <ns1:rPr sz="750" b="0">
                <ns1:solidFill>
                  <ns1:srgbClr val="5C6A60"/>
                </ns1:solidFill>
              </ns1:rPr>
              <ns1:t>Yalnız projede yürütülen doğrulama · artifacts/ml/model_exploration.json.</ns1:t>
            </ns1:r>
          </ns1:p>
        </ns0:txBody>
      </ns0:sp>
      <ns0:sp>
        <ns0:nvSpPr>
          <ns0:cNvPr id="17" name="ai-footer">
            <ns1:extLst>
              <ns1:ext uri="{FF2B5EF4-FFF2-40B4-BE49-F238E27FC236}">
                <ns2:creationId id="{748E6F0B-E114-441F-A7DA-0464AE4E8591}"/>
              </ns1:ext>
            </ns1:extLst>
          </ns0:cNvPr>
          <ns0:cNvSpPr>
            <ns1:spLocks noGrp="1"/>
          </ns0:cNvSpPr>
          <ns0:nvPr/>
        </ns0:nvSpPr>
        <ns0:spPr>
          <ns1:xfrm>
            <ns1:off x="8763000" y="6467475"/>
            <ns1:ext cx="28194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675" b="0">
                <ns1:solidFill>
                  <ns1:srgbClr val="5C6A60"/>
                </ns1:solidFill>
              </ns1:defRPr>
            </ns1:pPr>
            <ns1:r>
              <ns1:rPr sz="675" b="0">
                <ns1:solidFill>
                  <ns1:srgbClr val="5C6A60"/>
                </ns1:solidFill>
              </ns1:rPr>
              <ns1:t>Yapay zekâ desteği açıklanmıştır · İnsan incelemesi gereklidir</ns1:t>
            </ns1:r>
          </ns1:p>
        </ns0:txBody>
      </ns0:sp>
    </ns0:spTree>
    <ns0:extLst>
      <ns0:ext uri="{BB962C8B-B14F-4D97-AF65-F5344CB8AC3E}">
        <ns5:creationId val="1689169720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kicker-6">
            <ns1:extLst>
              <ns1:ext uri="{FF2B5EF4-FFF2-40B4-BE49-F238E27FC236}">
                <ns2:creationId id="{22E030A9-7A49-4D9E-8E11-E5ACDFFC3D57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61950"/>
            <ns1:ext cx="7239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975" b="1">
                <ns1:solidFill>
                  <ns1:srgbClr val="2E6B35"/>
                </ns1:solidFill>
              </ns1:defRPr>
            </ns1:pPr>
            <ns1:r>
              <ns1:rPr sz="975" b="1">
                <ns1:solidFill>
                  <ns1:srgbClr val="2E6B35"/>
                </ns1:solidFill>
              </ns1:rPr>
              <ns1:t>DOKUNULMAMIŞ NİHAİ DEĞERLENDİRME</ns1:t>
            </ns1:r>
          </ns1:p>
        </ns0:txBody>
      </ns0:sp>
      <ns0:sp>
        <ns0:nvSpPr>
          <ns0:cNvPr id="2" name="title-6">
            <ns1:extLst>
              <ns1:ext uri="{FF2B5EF4-FFF2-40B4-BE49-F238E27FC236}">
                <ns2:creationId id="{6A63FE90-5F8C-42A4-9228-D07325ADA2A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85800"/>
            <ns1:ext cx="10572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700" b="1">
                <ns1:solidFill>
                  <ns1:srgbClr val="17251B"/>
                </ns1:solidFill>
              </ns1:defRPr>
            </ns1:pPr>
            <ns1:r>
              <ns1:rPr sz="2700" b="1">
                <ns1:solidFill>
                  <ns1:srgbClr val="17251B"/>
                </ns1:solidFill>
              </ns1:rPr>
              <ns1:t>Dondurulmuş test yararlı sıralama ve belirgin zamansal kayma gösterir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3CE1B3CC-7F38-4AA7-B659-4098DA3F22D9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419100"/>
            <ns1:ext cx="3429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900" b="1">
                <ns1:solidFill>
                  <ns1:srgbClr val="5C6A60"/>
                </ns1:solidFill>
              </ns1:defRPr>
            </ns1:pPr>
            <ns1:r>
              <ns1:rPr sz="900" b="1">
                <ns1:solidFill>
                  <ns1:srgbClr val="5C6A60"/>
                </ns1:solidFill>
              </ns1:rPr>
              <ns1:t>06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6E2F515B-721F-4B04-92BF-55E0A8EC12CC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1562100"/>
            <ns1:ext cx="195262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100" b="1">
                <ns1:solidFill>
                  <ns1:srgbClr val="2E6B35"/>
                </ns1:solidFill>
              </ns1:defRPr>
            </ns1:pPr>
            <ns1:r>
              <ns1:rPr sz="2100" b="1">
                <ns1:solidFill>
                  <ns1:srgbClr val="2E6B35"/>
                </ns1:solidFill>
              </ns1:rPr>
              <ns1:t>0.647525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6859A4E0-EE2F-464F-BB1A-708F76E0012B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1990725"/>
            <ns1:ext cx="18097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1">
                <ns1:solidFill>
                  <ns1:srgbClr val="5C6A60"/>
                </ns1:solidFill>
              </ns1:defRPr>
            </ns1:pPr>
            <ns1:r>
              <ns1:rPr sz="1050" b="1">
                <ns1:solidFill>
                  <ns1:srgbClr val="5C6A60"/>
                </ns1:solidFill>
              </ns1:rPr>
              <ns1:t>PR-AUC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D0E429B7-B385-4CFB-9F0E-A60CEF504340}"/>
              </ns1:ext>
            </ns1:extLst>
          </ns0:cNvPr>
          <ns0:cNvSpPr>
            <ns1:spLocks noGrp="1"/>
          </ns0:cNvSpPr>
          <ns0:nvPr/>
        </ns0:nvSpPr>
        <ns0:spPr>
          <ns1:xfrm>
            <ns1:off x="2771775" y="1562100"/>
            <ns1:ext cx="195262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100" b="1">
                <ns1:solidFill>
                  <ns1:srgbClr val="2E6B35"/>
                </ns1:solidFill>
              </ns1:defRPr>
            </ns1:pPr>
            <ns1:r>
              <ns1:rPr sz="2100" b="1">
                <ns1:solidFill>
                  <ns1:srgbClr val="2E6B35"/>
                </ns1:solidFill>
              </ns1:rPr>
              <ns1:t>0.765878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36EB7D57-9F48-4795-A200-946494C3AD7F}"/>
              </ns1:ext>
            </ns1:extLst>
          </ns0:cNvPr>
          <ns0:cNvSpPr>
            <ns1:spLocks noGrp="1"/>
          </ns0:cNvSpPr>
          <ns0:nvPr/>
        </ns0:nvSpPr>
        <ns0:spPr>
          <ns1:xfrm>
            <ns1:off x="2771775" y="1990725"/>
            <ns1:ext cx="18097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1">
                <ns1:solidFill>
                  <ns1:srgbClr val="5C6A60"/>
                </ns1:solidFill>
              </ns1:defRPr>
            </ns1:pPr>
            <ns1:r>
              <ns1:rPr sz="1050" b="1">
                <ns1:solidFill>
                  <ns1:srgbClr val="5C6A60"/>
                </ns1:solidFill>
              </ns1:rPr>
              <ns1:t>ROC-AUC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7E8A681C-2250-4894-84EE-D75C1D57C445}"/>
              </ns1:ext>
            </ns1:extLst>
          </ns0:cNvPr>
          <ns0:cNvSpPr>
            <ns1:spLocks noGrp="1"/>
          </ns0:cNvSpPr>
          <ns0:nvPr/>
        </ns0:nvSpPr>
        <ns0:spPr>
          <ns1:xfrm>
            <ns1:off x="4914900" y="1562100"/>
            <ns1:ext cx="195262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100" b="1">
                <ns1:solidFill>
                  <ns1:srgbClr val="2E6B35"/>
                </ns1:solidFill>
              </ns1:defRPr>
            </ns1:pPr>
            <ns1:r>
              <ns1:rPr sz="2100" b="1">
                <ns1:solidFill>
                  <ns1:srgbClr val="2E6B35"/>
                </ns1:solidFill>
              </ns1:rPr>
              <ns1:t>0.199854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CD14FAF6-8A3E-4035-999A-B655A3882693}"/>
              </ns1:ext>
            </ns1:extLst>
          </ns0:cNvPr>
          <ns0:cNvSpPr>
            <ns1:spLocks noGrp="1"/>
          </ns0:cNvSpPr>
          <ns0:nvPr/>
        </ns0:nvSpPr>
        <ns0:spPr>
          <ns1:xfrm>
            <ns1:off x="4914900" y="1990725"/>
            <ns1:ext cx="18097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1">
                <ns1:solidFill>
                  <ns1:srgbClr val="5C6A60"/>
                </ns1:solidFill>
              </ns1:defRPr>
            </ns1:pPr>
            <ns1:r>
              <ns1:rPr sz="1050" b="1">
                <ns1:solidFill>
                  <ns1:srgbClr val="5C6A60"/>
                </ns1:solidFill>
              </ns1:rPr>
              <ns1:t>Brier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139C4D9C-A545-47F4-A014-48EC401C747C}"/>
              </ns1:ext>
            </ns1:extLst>
          </ns0:cNvPr>
          <ns0:cNvSpPr>
            <ns1:spLocks noGrp="1"/>
          </ns0:cNvSpPr>
          <ns0:nvPr/>
        </ns0:nvSpPr>
        <ns0:spPr>
          <ns1:xfrm>
            <ns1:off x="7058025" y="1562100"/>
            <ns1:ext cx="195262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100" b="1">
                <ns1:solidFill>
                  <ns1:srgbClr val="2E6B35"/>
                </ns1:solidFill>
              </ns1:defRPr>
            </ns1:pPr>
            <ns1:r>
              <ns1:rPr sz="2100" b="1">
                <ns1:solidFill>
                  <ns1:srgbClr val="2E6B35"/>
                </ns1:solidFill>
              </ns1:rPr>
              <ns1:t>1.904513×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4779E9B3-4029-426A-92D2-9075E8DE8467}"/>
              </ns1:ext>
            </ns1:extLst>
          </ns0:cNvPr>
          <ns0:cNvSpPr>
            <ns1:spLocks noGrp="1"/>
          </ns0:cNvSpPr>
          <ns0:nvPr/>
        </ns0:nvSpPr>
        <ns0:spPr>
          <ns1:xfrm>
            <ns1:off x="7058025" y="1990725"/>
            <ns1:ext cx="18097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1">
                <ns1:solidFill>
                  <ns1:srgbClr val="5C6A60"/>
                </ns1:solidFill>
              </ns1:defRPr>
            </ns1:pPr>
            <ns1:r>
              <ns1:rPr sz="1050" b="1">
                <ns1:solidFill>
                  <ns1:srgbClr val="5C6A60"/>
                </ns1:solidFill>
              </ns1:rPr>
              <ns1:t>İlk %10 artış</ns1:t>
            </ns1:r>
          </ns1:p>
        </ns0:txBody>
      </ns0:sp>
      <ns0:pic>
        <ns0:nvPicPr>
          <ns0:cNvPr id="31" name=""/>
          <ns0:cNvPicPr>
            <ns1:picLocks noChangeAspect="1"/>
          </ns0:cNvPicPr>
          <ns0:nvPr/>
        </ns0:nvPicPr>
        <ns0:blipFill>
          <ns1:blip ns3:embed="R3ad089b9fb6d4031"/>
          <ns1:stretch/>
        </ns0:blipFill>
        <ns0:spPr>
          <ns1:xfrm>
            <ns1:off x="552450" y="2514600"/>
            <ns1:ext cx="7620000" cy="3048000"/>
          </ns1:xfrm>
          <ns1:prstGeom prst="rect">
            <ns1:avLst/>
          </ns1:prstGeom>
        </ns0:spPr>
      </ns0:pic>
      <ns0:sp>
        <ns0:nvSpPr>
          <ns0:cNvPr id="13" name="threshold-summary">
            <ns1:extLst>
              <ns1:ext uri="{FF2B5EF4-FFF2-40B4-BE49-F238E27FC236}">
                <ns2:creationId id="{BC49933A-DC88-4BA2-830E-DEA53DCEEB1D}"/>
              </ns1:ext>
            </ns1:extLst>
          </ns0:cNvPr>
          <ns0:cNvSpPr>
            <ns1:spLocks noGrp="1"/>
          </ns0:cNvSpPr>
          <ns0:nvPr/>
        </ns0:nvSpPr>
        <ns0:spPr>
          <ns1:xfrm>
            <ns1:off x="8572500" y="2571750"/>
            <ns1:ext cx="2705100" cy="2800350"/>
          </ns1:xfrm>
          <ns1:prstGeom prst="roundRect">
            <ns1:avLst>
              <ns1:gd name="adj" fmla="val 4225"/>
            </ns1:avLst>
          </ns1:prstGeom>
          <ns1:solidFill>
            <ns1:srgbClr val="F0F3ED"/>
          </ns1:solidFill>
          <ns1:ln w="9525">
            <ns1:solidFill>
              <ns1:srgbClr val="F0F3ED"/>
            </ns1:solidFill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F38B8E08-CD70-4AE6-B7A4-8FABE3AABB50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2876550"/>
            <ns1:ext cx="21907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1">
                <ns1:solidFill>
                  <ns1:srgbClr val="2E6B35"/>
                </ns1:solidFill>
              </ns1:defRPr>
            </ns1:pPr>
            <ns1:r>
              <ns1:rPr sz="1200" b="1">
                <ns1:solidFill>
                  <ns1:srgbClr val="2E6B35"/>
                </ns1:solidFill>
              </ns1:rPr>
              <ns1:t>Dondurulmuş eşik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7922E5D7-B443-4C6D-8B8F-D9251A457909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3314700"/>
            <ns1:ext cx="1047750" cy="4476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700" b="1">
                <ns1:solidFill>
                  <ns1:srgbClr val="103723"/>
                </ns1:solidFill>
              </ns1:defRPr>
            </ns1:pPr>
            <ns1:r>
              <ns1:rPr sz="2700" b="1">
                <ns1:solidFill>
                  <ns1:srgbClr val="103723"/>
                </ns1:solidFill>
              </ns1:rPr>
              <ns1:t>302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DFB362A4-5D90-491E-A6F7-9931718CCC02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3781425"/>
            <ns1:ext cx="209550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0">
                <ns1:solidFill>
                  <ns1:srgbClr val="5C6A60"/>
                </ns1:solidFill>
              </ns1:defRPr>
            </ns1:pPr>
            <ns1:r>
              <ns1:rPr sz="1200" b="0">
                <ns1:solidFill>
                  <ns1:srgbClr val="5C6A60"/>
                </ns1:solidFill>
              </ns1:rPr>
              <ns1:t>müşteri seçildi</ns1:t>
            </ns1:r>
          </ns1:p>
          <ns1:p>
            <ns1:pPr algn="l">
              <ns1:defRPr sz="1200" b="0">
                <ns1:solidFill>
                  <ns1:srgbClr val="5C6A60"/>
                </ns1:solidFill>
              </ns1:defRPr>
            </ns1:pPr>
            <ns1:r>
              <ns1:rPr sz="1200" b="0">
                <ns1:solidFill>
                  <ns1:srgbClr val="5C6A60"/>
                </ns1:solidFill>
              </ns1:rPr>
              <ns1:t>testin %10,8947'si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FDE7374F-F914-492B-BABA-1B4E5E63D0A9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4514850"/>
            <ns1:ext cx="20955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1">
                <ns1:solidFill>
                  <ns1:srgbClr val="17251B"/>
                </ns1:solidFill>
              </ns1:defRPr>
            </ns1:pPr>
            <ns1:r>
              <ns1:rPr sz="1275" b="1">
                <ns1:solidFill>
                  <ns1:srgbClr val="17251B"/>
                </ns1:solidFill>
              </ns1:rPr>
              <ns1:t>Kesinlik 0.735099</ns1:t>
            </ns1:r>
          </ns1:p>
          <ns1:p>
            <ns1:pPr algn="l">
              <ns1:defRPr sz="1275" b="1">
                <ns1:solidFill>
                  <ns1:srgbClr val="17251B"/>
                </ns1:solidFill>
              </ns1:defRPr>
            </ns1:pPr>
            <ns1:r>
              <ns1:rPr sz="1275" b="1">
                <ns1:solidFill>
                  <ns1:srgbClr val="17251B"/>
                </ns1:solidFill>
              </ns1:rPr>
              <ns1:t>Duyarlılık 0.203857</ns1:t>
            </ns1:r>
          </ns1:p>
          <ns1:p>
            <ns1:pPr algn="l">
              <ns1:defRPr sz="1275" b="1">
                <ns1:solidFill>
                  <ns1:srgbClr val="17251B"/>
                </ns1:solidFill>
              </ns1:defRPr>
            </ns1:pPr>
            <ns1:r>
              <ns1:rPr sz="1275" b="1">
                <ns1:solidFill>
                  <ns1:srgbClr val="17251B"/>
                </ns1:solidFill>
              </ns1:rPr>
              <ns1:t>F1 0.319195</ns1:t>
            </ns1:r>
          </ns1:p>
        </ns0:txBody>
      </ns0:sp>
      <ns0:sp>
        <ns0:nvSpPr>
          <ns0:cNvPr id="18" name="source-footer">
            <ns1:extLst>
              <ns1:ext uri="{FF2B5EF4-FFF2-40B4-BE49-F238E27FC236}">
                <ns2:creationId id="{F33028DA-0A29-4134-9EBD-7DA6A4D8E78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67475"/>
            <ns1:ext cx="9906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750" b="0">
                <ns1:solidFill>
                  <ns1:srgbClr val="5C6A60"/>
                </ns1:solidFill>
              </ns1:defRPr>
            </ns1:pPr>
            <ns1:r>
              <ns1:rPr sz="750" b="0">
                <ns1:solidFill>
                  <ns1:srgbClr val="5C6A60"/>
                </ns1:solidFill>
              </ns1:rPr>
              <ns1:t>2.772 satırlı 2011-09-01 bekletmesi · %95 PR-AUC GA [0.618131, 0.678937].</ns1:t>
            </ns1:r>
          </ns1:p>
        </ns0:txBody>
      </ns0:sp>
      <ns0:sp>
        <ns0:nvSpPr>
          <ns0:cNvPr id="19" name="ai-footer">
            <ns1:extLst>
              <ns1:ext uri="{FF2B5EF4-FFF2-40B4-BE49-F238E27FC236}">
                <ns2:creationId id="{4D9D222D-313B-4386-BD4D-B081D585FF97}"/>
              </ns1:ext>
            </ns1:extLst>
          </ns0:cNvPr>
          <ns0:cNvSpPr>
            <ns1:spLocks noGrp="1"/>
          </ns0:cNvSpPr>
          <ns0:nvPr/>
        </ns0:nvSpPr>
        <ns0:spPr>
          <ns1:xfrm>
            <ns1:off x="8763000" y="6467475"/>
            <ns1:ext cx="28194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675" b="0">
                <ns1:solidFill>
                  <ns1:srgbClr val="5C6A60"/>
                </ns1:solidFill>
              </ns1:defRPr>
            </ns1:pPr>
            <ns1:r>
              <ns1:rPr sz="675" b="0">
                <ns1:solidFill>
                  <ns1:srgbClr val="5C6A60"/>
                </ns1:solidFill>
              </ns1:rPr>
              <ns1:t>Yapay zekâ desteği açıklanmıştır · İnsan incelemesi gereklidir</ns1:t>
            </ns1:r>
          </ns1:p>
        </ns0:txBody>
      </ns0:sp>
    </ns0:spTree>
    <ns0:extLst>
      <ns0:ext uri="{BB962C8B-B14F-4D97-AF65-F5344CB8AC3E}">
        <ns4:creationId val="2137688056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kicker-7">
            <ns1:extLst>
              <ns1:ext uri="{FF2B5EF4-FFF2-40B4-BE49-F238E27FC236}">
                <ns2:creationId id="{38D353CB-9FA3-4E05-94C4-70A86CE972B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61950"/>
            <ns1:ext cx="7239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975" b="1">
                <ns1:solidFill>
                  <ns1:srgbClr val="2E6B35"/>
                </ns1:solidFill>
              </ns1:defRPr>
            </ns1:pPr>
            <ns1:r>
              <ns1:rPr sz="975" b="1">
                <ns1:solidFill>
                  <ns1:srgbClr val="2E6B35"/>
                </ns1:solidFill>
              </ns1:rPr>
              <ns1:t>AÇIKLANABİLİRLİK VE SORUMLU YAPAY ZEKÂ</ns1:t>
            </ns1:r>
          </ns1:p>
        </ns0:txBody>
      </ns0:sp>
      <ns0:sp>
        <ns0:nvSpPr>
          <ns0:cNvPr id="2" name="title-7">
            <ns1:extLst>
              <ns1:ext uri="{FF2B5EF4-FFF2-40B4-BE49-F238E27FC236}">
                <ns2:creationId id="{4F310ECD-1BA8-4C5A-9A71-AA662EED649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85800"/>
            <ns1:ext cx="10572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700" b="1">
                <ns1:solidFill>
                  <ns1:srgbClr val="17251B"/>
                </ns1:solidFill>
              </ns1:defRPr>
            </ns1:pPr>
            <ns1:r>
              <ns1:rPr sz="2700" b="1">
                <ns1:solidFill>
                  <ns1:srgbClr val="17251B"/>
                </ns1:solidFill>
              </ns1:rPr>
              <ns1:t>Puan incelemeyi besler, ancak eyleme asla yetki vermez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169000DC-16BC-4BA5-9DC2-C89D2A59D7AD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419100"/>
            <ns1:ext cx="3429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900" b="1">
                <ns1:solidFill>
                  <ns1:srgbClr val="5C6A60"/>
                </ns1:solidFill>
              </ns1:defRPr>
            </ns1:pPr>
            <ns1:r>
              <ns1:rPr sz="900" b="1">
                <ns1:solidFill>
                  <ns1:srgbClr val="5C6A60"/>
                </ns1:solidFill>
              </ns1:rPr>
              <ns1:t>07</ns1:t>
            </ns1:r>
          </ns1:p>
        </ns0:txBody>
      </ns0:sp>
      <ns0:pic>
        <ns0:nvPicPr>
          <ns0:cNvPr id="28" name=""/>
          <ns0:cNvPicPr>
            <ns1:picLocks noChangeAspect="1"/>
          </ns0:cNvPicPr>
          <ns0:nvPr/>
        </ns0:nvPicPr>
        <ns0:blipFill>
          <ns1:blip ns3:embed="R2c624e389bf7451f"/>
          <ns1:stretch/>
        </ns0:blipFill>
        <ns0:spPr>
          <ns1:xfrm>
            <ns1:off x="772886" y="1543050"/>
            <ns1:ext cx="5578929" cy="3905250"/>
          </ns1:xfrm>
          <ns1:prstGeom prst="rect">
            <ns1:avLst/>
          </ns1:prstGeom>
        </ns0:spPr>
      </ns0:pic>
      <ns0:sp>
        <ns0:nvSpPr>
          <ns0:cNvPr id="5" name="">
            <ns1:extLst>
              <ns1:ext uri="{FF2B5EF4-FFF2-40B4-BE49-F238E27FC236}">
                <ns2:creationId id="{65CC7C8F-3C94-4A74-90B1-9C005659CAFE}"/>
              </ns1:ext>
            </ns1:extLst>
          </ns0:cNvPr>
          <ns0:cNvSpPr>
            <ns1:spLocks noGrp="1"/>
          </ns0:cNvSpPr>
          <ns0:nvPr/>
        </ns0:nvSpPr>
        <ns0:spPr>
          <ns1:xfrm>
            <ns1:off x="6953250" y="1638300"/>
            <ns1:ext cx="3714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800" b="1">
                <ns1:solidFill>
                  <ns1:srgbClr val="17251B"/>
                </ns1:solidFill>
              </ns1:defRPr>
            </ns1:pPr>
            <ns1:r>
              <ns1:rPr sz="1800" b="1">
                <ns1:solidFill>
                  <ns1:srgbClr val="17251B"/>
                </ns1:solidFill>
              </ns1:rPr>
              <ns1:t>Doğrulanmış açıklama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2CEA757D-91C7-4537-9999-804898028D96}"/>
              </ns1:ext>
            </ns1:extLst>
          </ns0:cNvPr>
          <ns0:cNvSpPr>
            <ns1:spLocks noGrp="1"/>
          </ns0:cNvSpPr>
          <ns0:nvPr/>
        </ns0:nvSpPr>
        <ns0:spPr>
          <ns1:xfrm>
            <ns1:off x="6953250" y="2114550"/>
            <ns1:ext cx="409575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2E6B35"/>
                </ns1:solidFill>
              </ns1:defRPr>
            </ns1:pPr>
            <ns1:r>
              <ns1:rPr sz="1425" b="1">
                <ns1:solidFill>
                  <ns1:srgbClr val="2E6B35"/>
                </ns1:solidFill>
              </ns1:rPr>
              <ns1:t>Azami SHAP toplamsallık hatası</ns1:t>
            </ns1:r>
          </ns1:p>
          <ns1:p>
            <ns1:pPr algn="l">
              <ns1:defRPr sz="1425" b="1">
                <ns1:solidFill>
                  <ns1:srgbClr val="2E6B35"/>
                </ns1:solidFill>
              </ns1:defRPr>
            </ns1:pPr>
            <ns1:r>
              <ns1:rPr sz="1425" b="1">
                <ns1:solidFill>
                  <ns1:srgbClr val="2E6B35"/>
                </ns1:solidFill>
              </ns1:rPr>
              <ns1:t>Kalibre log-olasılıkta 8,88 × 10⁻¹⁶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9E04B610-07BA-4634-98B4-5582C662F771}"/>
              </ns1:ext>
            </ns1:extLst>
          </ns0:cNvPr>
          <ns0:cNvSpPr>
            <ns1:spLocks noGrp="1"/>
          </ns0:cNvSpPr>
          <ns0:nvPr/>
        </ns0:nvSpPr>
        <ns0:spPr>
          <ns1:xfrm>
            <ns1:off x="6953250" y="3076575"/>
            <ns1:ext cx="285750" cy="285750"/>
          </ns1:xfrm>
          <ns1:prstGeom prst="ellipse">
            <ns1:avLst/>
          </ns1:prstGeom>
          <ns1:solidFill>
            <ns1:srgbClr val="2E6B35"/>
          </ns1:solidFill>
          <ns1:ln w="0">
            <ns1:solidFill>
              <ns1:srgbClr val="2E6B35"/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3EB8CF46-BDF0-4FB2-BC11-5EE194AA8B1A}"/>
              </ns1:ext>
            </ns1:extLst>
          </ns0:cNvPr>
          <ns0:cNvSpPr>
            <ns1:spLocks noGrp="1"/>
          </ns0:cNvSpPr>
          <ns0:nvPr/>
        </ns0:nvSpPr>
        <ns0:spPr>
          <ns1:xfrm>
            <ns1:off x="6972300" y="3105150"/>
            <ns1:ext cx="2476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1050" b="1">
                <ns1:solidFill>
                  <ns1:srgbClr val="FFFFFF"/>
                </ns1:solidFill>
              </ns1:defRPr>
            </ns1:pPr>
            <ns1:r>
              <ns1:rPr sz="1050" b="1">
                <ns1:solidFill>
                  <ns1:srgbClr val="FFFFFF"/>
                </ns1:solidFill>
              </ns1:rPr>
              <ns1:t>1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A7DE2B72-5F23-4D6B-8816-9ADEB54EBDC2}"/>
              </ns1:ext>
            </ns1:extLst>
          </ns0:cNvPr>
          <ns0:cNvSpPr>
            <ns1:spLocks noGrp="1"/>
          </ns0:cNvSpPr>
          <ns0:nvPr/>
        </ns0:nvSpPr>
        <ns0:spPr>
          <ns1:xfrm>
            <ns1:off x="7429500" y="3105150"/>
            <ns1:ext cx="33337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1">
                <ns1:solidFill>
                  <ns1:srgbClr val="17251B"/>
                </ns1:solidFill>
              </ns1:defRPr>
            </ns1:pPr>
            <ns1:r>
              <ns1:rPr sz="1275" b="1">
                <ns1:solidFill>
                  <ns1:srgbClr val="17251B"/>
                </ns1:solidFill>
              </ns1:rPr>
              <ns1:t>Güncel rıza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BC31D6DF-C33E-4965-8DA2-342AFA1283DD}"/>
              </ns1:ext>
            </ns1:extLst>
          </ns0:cNvPr>
          <ns0:cNvSpPr>
            <ns1:spLocks noGrp="1"/>
          </ns0:cNvSpPr>
          <ns0:nvPr/>
        </ns0:nvSpPr>
        <ns0:spPr>
          <ns1:xfrm>
            <ns1:off x="6953250" y="3514725"/>
            <ns1:ext cx="285750" cy="285750"/>
          </ns1:xfrm>
          <ns1:prstGeom prst="ellipse">
            <ns1:avLst/>
          </ns1:prstGeom>
          <ns1:solidFill>
            <ns1:srgbClr val="2E6B35"/>
          </ns1:solidFill>
          <ns1:ln w="0">
            <ns1:solidFill>
              <ns1:srgbClr val="2E6B35"/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CB092BDB-32DE-42B2-AAF3-06C6FAC8D511}"/>
              </ns1:ext>
            </ns1:extLst>
          </ns0:cNvPr>
          <ns0:cNvSpPr>
            <ns1:spLocks noGrp="1"/>
          </ns0:cNvSpPr>
          <ns0:nvPr/>
        </ns0:nvSpPr>
        <ns0:spPr>
          <ns1:xfrm>
            <ns1:off x="6972300" y="3543300"/>
            <ns1:ext cx="2476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1050" b="1">
                <ns1:solidFill>
                  <ns1:srgbClr val="FFFFFF"/>
                </ns1:solidFill>
              </ns1:defRPr>
            </ns1:pPr>
            <ns1:r>
              <ns1:rPr sz="1050" b="1">
                <ns1:solidFill>
                  <ns1:srgbClr val="FFFFFF"/>
                </ns1:solidFill>
              </ns1:rPr>
              <ns1:t>2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7877972C-2D53-473E-9F83-430AD58A53E5}"/>
              </ns1:ext>
            </ns1:extLst>
          </ns0:cNvPr>
          <ns0:cNvSpPr>
            <ns1:spLocks noGrp="1"/>
          </ns0:cNvSpPr>
          <ns0:nvPr/>
        </ns0:nvSpPr>
        <ns0:spPr>
          <ns1:xfrm>
            <ns1:off x="7429500" y="3543300"/>
            <ns1:ext cx="33337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1">
                <ns1:solidFill>
                  <ns1:srgbClr val="17251B"/>
                </ns1:solidFill>
              </ns1:defRPr>
            </ns1:pPr>
            <ns1:r>
              <ns1:rPr sz="1275" b="1">
                <ns1:solidFill>
                  <ns1:srgbClr val="17251B"/>
                </ns1:solidFill>
              </ns1:rPr>
              <ns1:t>Uygun kitle anlık görüntüsü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5766FB59-2B68-44BF-8BD9-F63A672AFC44}"/>
              </ns1:ext>
            </ns1:extLst>
          </ns0:cNvPr>
          <ns0:cNvSpPr>
            <ns1:spLocks noGrp="1"/>
          </ns0:cNvSpPr>
          <ns0:nvPr/>
        </ns0:nvSpPr>
        <ns0:spPr>
          <ns1:xfrm>
            <ns1:off x="6953250" y="3952875"/>
            <ns1:ext cx="285750" cy="285750"/>
          </ns1:xfrm>
          <ns1:prstGeom prst="ellipse">
            <ns1:avLst/>
          </ns1:prstGeom>
          <ns1:solidFill>
            <ns1:srgbClr val="2E6B35"/>
          </ns1:solidFill>
          <ns1:ln w="0">
            <ns1:solidFill>
              <ns1:srgbClr val="2E6B35"/>
            </ns1:solidFill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04E40746-7B02-4706-A899-65427B76A3C0}"/>
              </ns1:ext>
            </ns1:extLst>
          </ns0:cNvPr>
          <ns0:cNvSpPr>
            <ns1:spLocks noGrp="1"/>
          </ns0:cNvSpPr>
          <ns0:nvPr/>
        </ns0:nvSpPr>
        <ns0:spPr>
          <ns1:xfrm>
            <ns1:off x="6972300" y="3981450"/>
            <ns1:ext cx="2476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1050" b="1">
                <ns1:solidFill>
                  <ns1:srgbClr val="FFFFFF"/>
                </ns1:solidFill>
              </ns1:defRPr>
            </ns1:pPr>
            <ns1:r>
              <ns1:rPr sz="1050" b="1">
                <ns1:solidFill>
                  <ns1:srgbClr val="FFFFFF"/>
                </ns1:solidFill>
              </ns1:rPr>
              <ns1:t>3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B0D814AA-6738-44C2-997A-A5EDDA1B3137}"/>
              </ns1:ext>
            </ns1:extLst>
          </ns0:cNvPr>
          <ns0:cNvSpPr>
            <ns1:spLocks noGrp="1"/>
          </ns0:cNvSpPr>
          <ns0:nvPr/>
        </ns0:nvSpPr>
        <ns0:spPr>
          <ns1:xfrm>
            <ns1:off x="7429500" y="3981450"/>
            <ns1:ext cx="33337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1">
                <ns1:solidFill>
                  <ns1:srgbClr val="17251B"/>
                </ns1:solidFill>
              </ns1:defRPr>
            </ns1:pPr>
            <ns1:r>
              <ns1:rPr sz="1275" b="1">
                <ns1:solidFill>
                  <ns1:srgbClr val="17251B"/>
                </ns1:solidFill>
              </ns1:rPr>
              <ns1:t>Yetkili inceleyen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1966FED6-0B48-4DEB-A6F6-05617928A7B5}"/>
              </ns1:ext>
            </ns1:extLst>
          </ns0:cNvPr>
          <ns0:cNvSpPr>
            <ns1:spLocks noGrp="1"/>
          </ns0:cNvSpPr>
          <ns0:nvPr/>
        </ns0:nvSpPr>
        <ns0:spPr>
          <ns1:xfrm>
            <ns1:off x="6953250" y="4391025"/>
            <ns1:ext cx="285750" cy="285750"/>
          </ns1:xfrm>
          <ns1:prstGeom prst="ellipse">
            <ns1:avLst/>
          </ns1:prstGeom>
          <ns1:solidFill>
            <ns1:srgbClr val="2E6B35"/>
          </ns1:solidFill>
          <ns1:ln w="0">
            <ns1:solidFill>
              <ns1:srgbClr val="2E6B35"/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779876F6-1634-4586-BBBD-3E4B89103D77}"/>
              </ns1:ext>
            </ns1:extLst>
          </ns0:cNvPr>
          <ns0:cNvSpPr>
            <ns1:spLocks noGrp="1"/>
          </ns0:cNvSpPr>
          <ns0:nvPr/>
        </ns0:nvSpPr>
        <ns0:spPr>
          <ns1:xfrm>
            <ns1:off x="6972300" y="4419600"/>
            <ns1:ext cx="2476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1050" b="1">
                <ns1:solidFill>
                  <ns1:srgbClr val="FFFFFF"/>
                </ns1:solidFill>
              </ns1:defRPr>
            </ns1:pPr>
            <ns1:r>
              <ns1:rPr sz="1050" b="1">
                <ns1:solidFill>
                  <ns1:srgbClr val="FFFFFF"/>
                </ns1:solidFill>
              </ns1:rPr>
              <ns1:t>4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B4C12ED5-B8B7-4F92-A01B-B1BF7B6E5AC0}"/>
              </ns1:ext>
            </ns1:extLst>
          </ns0:cNvPr>
          <ns0:cNvSpPr>
            <ns1:spLocks noGrp="1"/>
          </ns0:cNvSpPr>
          <ns0:nvPr/>
        </ns0:nvSpPr>
        <ns0:spPr>
          <ns1:xfrm>
            <ns1:off x="7429500" y="4419600"/>
            <ns1:ext cx="33337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1">
                <ns1:solidFill>
                  <ns1:srgbClr val="17251B"/>
                </ns1:solidFill>
              </ns1:defRPr>
            </ns1:pPr>
            <ns1:r>
              <ns1:rPr sz="1275" b="1">
                <ns1:solidFill>
                  <ns1:srgbClr val="17251B"/>
                </ns1:solidFill>
              </ns1:rPr>
              <ns1:t>Açık onay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BFAA3AFC-52F8-4606-AFAB-6A03FF606DD7}"/>
              </ns1:ext>
            </ns1:extLst>
          </ns0:cNvPr>
          <ns0:cNvSpPr>
            <ns1:spLocks noGrp="1"/>
          </ns0:cNvSpPr>
          <ns0:nvPr/>
        </ns0:nvSpPr>
        <ns0:spPr>
          <ns1:xfrm>
            <ns1:off x="6953250" y="4829175"/>
            <ns1:ext cx="285750" cy="285750"/>
          </ns1:xfrm>
          <ns1:prstGeom prst="ellipse">
            <ns1:avLst/>
          </ns1:prstGeom>
          <ns1:solidFill>
            <ns1:srgbClr val="2E6B35"/>
          </ns1:solidFill>
          <ns1:ln w="0">
            <ns1:solidFill>
              <ns1:srgbClr val="2E6B35"/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4D32E367-35F9-42DB-AD4B-0E6608755ECC}"/>
              </ns1:ext>
            </ns1:extLst>
          </ns0:cNvPr>
          <ns0:cNvSpPr>
            <ns1:spLocks noGrp="1"/>
          </ns0:cNvSpPr>
          <ns0:nvPr/>
        </ns0:nvSpPr>
        <ns0:spPr>
          <ns1:xfrm>
            <ns1:off x="6972300" y="4857750"/>
            <ns1:ext cx="2476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1050" b="1">
                <ns1:solidFill>
                  <ns1:srgbClr val="FFFFFF"/>
                </ns1:solidFill>
              </ns1:defRPr>
            </ns1:pPr>
            <ns1:r>
              <ns1:rPr sz="1050" b="1">
                <ns1:solidFill>
                  <ns1:srgbClr val="FFFFFF"/>
                </ns1:solidFill>
              </ns1:rPr>
              <ns1:t>5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C78A7CAF-AC34-4970-9A03-19D51D7B9234}"/>
              </ns1:ext>
            </ns1:extLst>
          </ns0:cNvPr>
          <ns0:cNvSpPr>
            <ns1:spLocks noGrp="1"/>
          </ns0:cNvSpPr>
          <ns0:nvPr/>
        </ns0:nvSpPr>
        <ns0:spPr>
          <ns1:xfrm>
            <ns1:off x="7429500" y="4857750"/>
            <ns1:ext cx="33337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1">
                <ns1:solidFill>
                  <ns1:srgbClr val="17251B"/>
                </ns1:solidFill>
              </ns1:defRPr>
            </ns1:pPr>
            <ns1:r>
              <ns1:rPr sz="1275" b="1">
                <ns1:solidFill>
                  <ns1:srgbClr val="17251B"/>
                </ns1:solidFill>
              </ns1:rPr>
              <ns1:t>Acil durdurma + bütçe sınırı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95F241CB-FEB1-48C2-B4B5-CD5068133A76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5810250"/>
            <ns1:ext cx="1057275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350" b="1">
                <ns1:solidFill>
                  <ns1:srgbClr val="2E6B35"/>
                </ns1:solidFill>
              </ns1:defRPr>
            </ns1:pPr>
            <ns1:r>
              <ns1:rPr sz="1350" b="1">
                <ns1:solidFill>
                  <ns1:srgbClr val="2E6B35"/>
                </ns1:solidFill>
              </ns1:rPr>
              <ns1:t>SHAP, puanın oluşumunu açıklar; müşteri davranışının nedenini veya neyin değiştireceğini değil.</ns1:t>
            </ns1:r>
          </ns1:p>
        </ns0:txBody>
      </ns0:sp>
      <ns0:sp>
        <ns0:nvSpPr>
          <ns0:cNvPr id="23" name="source-footer">
            <ns1:extLst>
              <ns1:ext uri="{FF2B5EF4-FFF2-40B4-BE49-F238E27FC236}">
                <ns2:creationId id="{06237145-FAA3-434E-BA55-F4260D594DC7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67475"/>
            <ns1:ext cx="9906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750" b="0">
                <ns1:solidFill>
                  <ns1:srgbClr val="5C6A60"/>
                </ns1:solidFill>
              </ns1:defRPr>
            </ns1:pPr>
            <ns1:r>
              <ns1:rPr sz="750" b="0">
                <ns1:solidFill>
                  <ns1:srgbClr val="5C6A60"/>
                </ns1:solidFill>
              </ns1:rPr>
              <ns1:t>Proje açıklama eseri ve uygulanmış rıza/onay denetimleri.</ns1:t>
            </ns1:r>
          </ns1:p>
        </ns0:txBody>
      </ns0:sp>
      <ns0:sp>
        <ns0:nvSpPr>
          <ns0:cNvPr id="24" name="ai-footer">
            <ns1:extLst>
              <ns1:ext uri="{FF2B5EF4-FFF2-40B4-BE49-F238E27FC236}">
                <ns2:creationId id="{32A05E6D-3023-4883-825E-4F7290CB96C4}"/>
              </ns1:ext>
            </ns1:extLst>
          </ns0:cNvPr>
          <ns0:cNvSpPr>
            <ns1:spLocks noGrp="1"/>
          </ns0:cNvSpPr>
          <ns0:nvPr/>
        </ns0:nvSpPr>
        <ns0:spPr>
          <ns1:xfrm>
            <ns1:off x="8763000" y="6467475"/>
            <ns1:ext cx="28194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675" b="0">
                <ns1:solidFill>
                  <ns1:srgbClr val="5C6A60"/>
                </ns1:solidFill>
              </ns1:defRPr>
            </ns1:pPr>
            <ns1:r>
              <ns1:rPr sz="675" b="0">
                <ns1:solidFill>
                  <ns1:srgbClr val="5C6A60"/>
                </ns1:solidFill>
              </ns1:rPr>
              <ns1:t>Yapay zekâ desteği açıklanmıştır · İnsan incelemesi gereklidir</ns1:t>
            </ns1:r>
          </ns1:p>
        </ns0:txBody>
      </ns0:sp>
    </ns0:spTree>
    <ns0:extLst>
      <ns0:ext uri="{BB962C8B-B14F-4D97-AF65-F5344CB8AC3E}">
        <ns4:creationId val="1395162001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10372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kicker-8">
            <ns1:extLst>
              <ns1:ext uri="{FF2B5EF4-FFF2-40B4-BE49-F238E27FC236}">
                <ns2:creationId id="{D5E53FBA-53CB-49BD-B13F-F2C67E4F30BF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61950"/>
            <ns1:ext cx="7239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975" b="1">
                <ns1:solidFill>
                  <ns1:srgbClr val="A8CC8B"/>
                </ns1:solidFill>
              </ns1:defRPr>
            </ns1:pPr>
            <ns1:r>
              <ns1:rPr sz="975" b="1">
                <ns1:solidFill>
                  <ns1:srgbClr val="A8CC8B"/>
                </ns1:solidFill>
              </ns1:rPr>
              <ns1:t>PROJE LİDERİ KARARI</ns1:t>
            </ns1:r>
          </ns1:p>
        </ns0:txBody>
      </ns0:sp>
      <ns0:sp>
        <ns0:nvSpPr>
          <ns0:cNvPr id="2" name="title-8">
            <ns1:extLst>
              <ns1:ext uri="{FF2B5EF4-FFF2-40B4-BE49-F238E27FC236}">
                <ns2:creationId id="{BF221C40-B0B6-411B-821B-341EFCE68D5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85800"/>
            <ns1:ext cx="10572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700" b="1">
                <ns1:solidFill>
                  <ns1:srgbClr val="FFFFFF"/>
                </ns1:solidFill>
              </ns1:defRPr>
            </ns1:pPr>
            <ns1:r>
              <ns1:rPr sz="2700" b="1">
                <ns1:solidFill>
                  <ns1:srgbClr val="FFFFFF"/>
                </ns1:solidFill>
              </ns1:rPr>
              <ns1:t>Yerel kanıt hazır; üretim kanıtı dış doğrulamada bekliyor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7770688F-7B02-4853-8462-2F615B7568FD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419100"/>
            <ns1:ext cx="3429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900" b="1">
                <ns1:solidFill>
                  <ns1:srgbClr val="A8CC8B"/>
                </ns1:solidFill>
              </ns1:defRPr>
            </ns1:pPr>
            <ns1:r>
              <ns1:rPr sz="900" b="1">
                <ns1:solidFill>
                  <ns1:srgbClr val="A8CC8B"/>
                </ns1:solidFill>
              </ns1:rPr>
              <ns1:t>08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B669848A-189C-4741-9136-9211CAFF9685}"/>
              </ns1:ext>
            </ns1:extLst>
          </ns0:cNvPr>
          <ns0:cNvSpPr>
            <ns1:spLocks noGrp="1"/>
          </ns0:cNvSpPr>
          <ns0:nvPr/>
        </ns0:nvSpPr>
        <ns0:spPr>
          <ns1:xfrm>
            <ns1:off x="704850" y="1657350"/>
            <ns1:ext cx="4191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875" b="1">
                <ns1:solidFill>
                  <ns1:srgbClr val="A8CC8B"/>
                </ns1:solidFill>
              </ns1:defRPr>
            </ns1:pPr>
            <ns1:r>
              <ns1:rPr sz="1875" b="1">
                <ns1:solidFill>
                  <ns1:srgbClr val="A8CC8B"/>
                </ns1:solidFill>
              </ns1:rPr>
              <ns1:t>Yerelde tamamlandı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730C18FC-D1E6-4063-B768-C333D3D4C4F0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2209800"/>
            <ns1:ext cx="4667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FFFFFF"/>
                </ns1:solidFill>
              </ns1:defRPr>
            </ns1:pPr>
            <ns1:r>
              <ns1:rPr sz="1425" b="1">
                <ns1:solidFill>
                  <ns1:srgbClr val="FFFFFF"/>
                </ns1:solidFill>
              </ns1:rPr>
              <ns1:t>✓  Kiracı güvenli CRM / ticaret / içe aktarma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DEB17CF2-55C6-41D3-A68A-4E61BBD67446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2762250"/>
            <ns1:ext cx="4667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FFFFFF"/>
                </ns1:solidFill>
              </ns1:defRPr>
            </ns1:pPr>
            <ns1:r>
              <ns1:rPr sz="1425" b="1">
                <ns1:solidFill>
                  <ns1:srgbClr val="FFFFFF"/>
                </ns1:solidFill>
              </ns1:rPr>
              <ns1:t>✓  Sürümlü analitik ve model kaydı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3CAB55C3-2041-4487-A6A5-69EBF4E2D178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314700"/>
            <ns1:ext cx="4667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FFFFFF"/>
                </ns1:solidFill>
              </ns1:defRPr>
            </ns1:pPr>
            <ns1:r>
              <ns1:rPr sz="1425" b="1">
                <ns1:solidFill>
                  <ns1:srgbClr val="FFFFFF"/>
                </ns1:solidFill>
              </ns1:rPr>
              <ns1:t>✓  Kitleler, onaylar ve denetim izi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5441EAF0-C3E3-4B28-B8C8-CD723D6722A6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867150"/>
            <ns1:ext cx="4667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FFFFFF"/>
                </ns1:solidFill>
              </ns1:defRPr>
            </ns1:pPr>
            <ns1:r>
              <ns1:rPr sz="1425" b="1">
                <ns1:solidFill>
                  <ns1:srgbClr val="FFFFFF"/>
                </ns1:solidFill>
              </ns1:rPr>
              <ns1:t>✓  Yazılı ödevler + final sunumu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206F9276-0679-4FE6-B107-F6CAC2A4E2C0}"/>
              </ns1:ext>
            </ns1:extLst>
          </ns0:cNvPr>
          <ns0:cNvSpPr>
            <ns1:spLocks noGrp="1"/>
          </ns0:cNvSpPr>
          <ns0:nvPr/>
        </ns0:nvSpPr>
        <ns0:spPr>
          <ns1:xfrm>
            <ns1:off x="6419850" y="1657350"/>
            <ns1:ext cx="4762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875" b="1">
                <ns1:solidFill>
                  <ns1:srgbClr val="A8CC8B"/>
                </ns1:solidFill>
              </ns1:defRPr>
            </ns1:pPr>
            <ns1:r>
              <ns1:rPr sz="1875" b="1">
                <ns1:solidFill>
                  <ns1:srgbClr val="A8CC8B"/>
                </ns1:solidFill>
              </ns1:rPr>
              <ns1:t>Dış doğrulama hâlâ gerekli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7C5239DB-AB7F-4201-8B0D-41A8F0A6108C}"/>
              </ns1:ext>
            </ns1:extLst>
          </ns0:cNvPr>
          <ns0:cNvSpPr>
            <ns1:spLocks noGrp="1"/>
          </ns0:cNvSpPr>
          <ns0:nvPr/>
        </ns0:nvSpPr>
        <ns0:spPr>
          <ns1:xfrm>
            <ns1:off x="6457950" y="2209800"/>
            <ns1:ext cx="4762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0">
                <ns1:solidFill>
                  <ns1:srgbClr val="FFFFFF"/>
                </ns1:solidFill>
              </ns1:defRPr>
            </ns1:pPr>
            <ns1:r>
              <ns1:rPr sz="1425" b="0">
                <ns1:solidFill>
                  <ns1:srgbClr val="FFFFFF"/>
                </ns1:solidFill>
              </ns1:rPr>
              <ns1:t>○  Canlı Meta / Google / LLM / OIDC test ortamları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BF0AEEBE-754D-444E-95BE-3B80870A094A}"/>
              </ns1:ext>
            </ns1:extLst>
          </ns0:cNvPr>
          <ns0:cNvSpPr>
            <ns1:spLocks noGrp="1"/>
          </ns0:cNvSpPr>
          <ns0:nvPr/>
        </ns0:nvSpPr>
        <ns0:spPr>
          <ns1:xfrm>
            <ns1:off x="6457950" y="2762250"/>
            <ns1:ext cx="4762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0">
                <ns1:solidFill>
                  <ns1:srgbClr val="FFFFFF"/>
                </ns1:solidFill>
              </ns1:defRPr>
            </ns1:pPr>
            <ns1:r>
              <ns1:rPr sz="1425" b="0">
                <ns1:solidFill>
                  <ns1:srgbClr val="FFFFFF"/>
                </ns1:solidFill>
              </ns1:rPr>
              <ns1:t>○  Tarayıcı erişilebilirlik ve yük doğrulaması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ADC16349-26A5-41FC-86AE-5FFC9A356E15}"/>
              </ns1:ext>
            </ns1:extLst>
          </ns0:cNvPr>
          <ns0:cNvSpPr>
            <ns1:spLocks noGrp="1"/>
          </ns0:cNvSpPr>
          <ns0:nvPr/>
        </ns0:nvSpPr>
        <ns0:spPr>
          <ns1:xfrm>
            <ns1:off x="6457950" y="3314700"/>
            <ns1:ext cx="4762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0">
                <ns1:solidFill>
                  <ns1:srgbClr val="FFFFFF"/>
                </ns1:solidFill>
              </ns1:defRPr>
            </ns1:pPr>
            <ns1:r>
              <ns1:rPr sz="1425" b="0">
                <ns1:solidFill>
                  <ns1:srgbClr val="FFFFFF"/>
                </ns1:solidFill>
              </ns1:rPr>
              <ns1:t>○  Yönetilen yedekleme / geri yükleme provası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3EBA8480-2FD8-4882-9401-A008E059F7F7}"/>
              </ns1:ext>
            </ns1:extLst>
          </ns0:cNvPr>
          <ns0:cNvSpPr>
            <ns1:spLocks noGrp="1"/>
          </ns0:cNvSpPr>
          <ns0:nvPr/>
        </ns0:nvSpPr>
        <ns0:spPr>
          <ns1:xfrm>
            <ns1:off x="6457950" y="3867150"/>
            <ns1:ext cx="4762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0">
                <ns1:solidFill>
                  <ns1:srgbClr val="FFFFFF"/>
                </ns1:solidFill>
              </ns1:defRPr>
            </ns1:pPr>
            <ns1:r>
              <ns1:rPr sz="1425" b="0">
                <ns1:solidFill>
                  <ns1:srgbClr val="FFFFFF"/>
                </ns1:solidFill>
              </ns1:rPr>
              <ns1:t>○  Ek etki için rastgeleleştirilmiş pilot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14DCF1EB-CA05-4106-9C46-604D48D1FB2F}"/>
              </ns1:ext>
            </ns1:extLst>
          </ns0:cNvPr>
          <ns0:cNvSpPr>
            <ns1:spLocks noGrp="1"/>
          </ns0:cNvSpPr>
          <ns0:nvPr/>
        </ns0:nvSpPr>
        <ns0:spPr>
          <ns1:xfrm>
            <ns1:off x="704850" y="4933950"/>
            <ns1:ext cx="10515600" cy="838200"/>
          </ns1:xfrm>
          <ns1:prstGeom prst="rect">
            <ns1:avLst/>
          </ns1:prstGeom>
          <ns1:solidFill>
            <ns1:srgbClr val="1D572E"/>
          </ns1:solidFill>
          <ns1:ln w="0">
            <ns1:solidFill>
              <ns1:srgbClr val="1D572E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252648BE-2DEE-48CC-A406-66CFA41A3638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5162550"/>
            <ns1:ext cx="98107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İstenen karar: yerel paketi denetleyin. Yayın, dağıtım ve canlı harcama ayrı onaya bağlıdır.</ns1:t>
            </ns1:r>
          </ns1:p>
        </ns0:txBody>
      </ns0:sp>
      <ns0:sp>
        <ns0:nvSpPr>
          <ns0:cNvPr id="16" name="source-footer">
            <ns1:extLst>
              <ns1:ext uri="{FF2B5EF4-FFF2-40B4-BE49-F238E27FC236}">
                <ns2:creationId id="{36A7B160-F32F-4D1F-9BAA-86DF1E9731B8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67475"/>
            <ns1:ext cx="9906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750" b="0">
                <ns1:solidFill>
                  <ns1:srgbClr val="A8CC8B"/>
                </ns1:solidFill>
              </ns1:defRPr>
            </ns1:pPr>
            <ns1:r>
              <ns1:rPr sz="750" b="0">
                <ns1:solidFill>
                  <ns1:srgbClr val="A8CC8B"/>
                </ns1:solidFill>
              </ns1:rPr>
              <ns1:t>Ücretli dağıtım veya canlı reklam harcaması yapılmadı.</ns1:t>
            </ns1:r>
          </ns1:p>
        </ns0:txBody>
      </ns0:sp>
      <ns0:sp>
        <ns0:nvSpPr>
          <ns0:cNvPr id="17" name="ai-footer">
            <ns1:extLst>
              <ns1:ext uri="{FF2B5EF4-FFF2-40B4-BE49-F238E27FC236}">
                <ns2:creationId id="{45D98581-8C2E-4A3D-99E6-D50E235D0EEB}"/>
              </ns1:ext>
            </ns1:extLst>
          </ns0:cNvPr>
          <ns0:cNvSpPr>
            <ns1:spLocks noGrp="1"/>
          </ns0:cNvSpPr>
          <ns0:nvPr/>
        </ns0:nvSpPr>
        <ns0:spPr>
          <ns1:xfrm>
            <ns1:off x="8763000" y="6467475"/>
            <ns1:ext cx="28194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675" b="0">
                <ns1:solidFill>
                  <ns1:srgbClr val="A8CC8B"/>
                </ns1:solidFill>
              </ns1:defRPr>
            </ns1:pPr>
            <ns1:r>
              <ns1:rPr sz="675" b="0">
                <ns1:solidFill>
                  <ns1:srgbClr val="A8CC8B"/>
                </ns1:solidFill>
              </ns1:rPr>
              <ns1:t>Yapay zekâ desteği açıklanmıştır · İnsan incelemesi gereklidir</ns1:t>
            </ns1:r>
          </ns1:p>
        </ns0:txBody>
      </ns0:sp>
    </ns0:spTree>
    <ns0:extLst>
      <ns0:ext uri="{BB962C8B-B14F-4D97-AF65-F5344CB8AC3E}">
        <ns3:creationId val="1833741441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2026-09-09T08:13:15.2080000Z</dcterms:created>
  <dcterms:modified xsi:type="dcterms:W3CDTF">2026-09-09T08:13:15.2080000Z</dcterms:modified>
</coreProperties>
</file>